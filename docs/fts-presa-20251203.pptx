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_rels/slideLayout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Masters/_rels/slideMaster1.xml.rels" ContentType="application/vnd.openxmlformats-package.relationships+xml"/>
  <Override PartName="/ppt/slideMasters/slideMaster1.xml" ContentType="application/vnd.openxmlformats-officedocument.presentationml.slideMaster+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_rels/slide29.xml.rels" ContentType="application/vnd.openxmlformats-package.relationships+xml"/>
  <Override PartName="/ppt/slides/_rels/slide31.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9.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6.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slide26.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notesSlides/_rels/notesSlide27.xml.rels" ContentType="application/vnd.openxmlformats-package.relationships+xml"/>
  <Override PartName="/ppt/notesSlides/_rels/notesSlide6.xml.rels" ContentType="application/vnd.openxmlformats-package.relationships+xml"/>
  <Override PartName="/ppt/notesSlides/notesSlide6.xml" ContentType="application/vnd.openxmlformats-officedocument.presentationml.notesSlide+xml"/>
  <Override PartName="/ppt/notesSlides/notesSlide2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12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2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25"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26"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7"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520BF6D-3144-4622-A622-1CE70F510A3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216000" y="812520"/>
            <a:ext cx="7126920" cy="4008600"/>
          </a:xfrm>
          <a:prstGeom prst="rect">
            <a:avLst/>
          </a:prstGeom>
          <a:ln w="0">
            <a:noFill/>
          </a:ln>
        </p:spPr>
      </p:sp>
      <p:sp>
        <p:nvSpPr>
          <p:cNvPr id="19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281s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71m</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216000" y="812520"/>
            <a:ext cx="7126200" cy="4007880"/>
          </a:xfrm>
          <a:prstGeom prst="rect">
            <a:avLst/>
          </a:prstGeom>
          <a:ln w="0">
            <a:noFill/>
          </a:ln>
        </p:spPr>
      </p:sp>
      <p:sp>
        <p:nvSpPr>
          <p:cNvPr id="196" name="PlaceHolder 2"/>
          <p:cNvSpPr>
            <a:spLocks noGrp="1"/>
          </p:cNvSpPr>
          <p:nvPr>
            <p:ph type="body"/>
          </p:nvPr>
        </p:nvSpPr>
        <p:spPr>
          <a:xfrm>
            <a:off x="756000" y="5078520"/>
            <a:ext cx="6046560" cy="5478840"/>
          </a:xfrm>
          <a:prstGeom prst="rect">
            <a:avLst/>
          </a:prstGeom>
          <a:noFill/>
          <a:ln w="0">
            <a:noFill/>
          </a:ln>
        </p:spPr>
        <p:txBody>
          <a:bodyPr lIns="0" rIns="0" tIns="0" bIns="0" anchor="t">
            <a:noAutofit/>
          </a:bodyPr>
          <a:p>
            <a:pPr marL="216000" indent="0">
              <a:lnSpc>
                <a:spcPct val="100000"/>
              </a:lnSpc>
              <a:buNone/>
              <a:tabLst>
                <a:tab algn="l" pos="0"/>
              </a:tabLst>
            </a:pPr>
            <a:r>
              <a:rPr b="0" lang="en-US" sz="1600" spc="-1" strike="noStrike">
                <a:solidFill>
                  <a:srgbClr val="000000"/>
                </a:solidFill>
                <a:latin typeface="Arial"/>
              </a:rPr>
              <a:t>Here is a demo of a 3 device setup, a master and two slaves. All of them are blinking LEDs in sync at 1 Hz and sending pulses to digital output pins. The outputs are monitored with an oscilloscope.</a:t>
            </a:r>
            <a:endParaRPr b="0" lang="en-US" sz="16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1600" spc="-1" strike="noStrike">
                <a:solidFill>
                  <a:srgbClr val="000000"/>
                </a:solidFill>
                <a:latin typeface="Arial"/>
              </a:rPr>
              <a:t>Unfortunately, the scope is rather old, it lags a bit and and does not gather pulse delay statistics very well in this case (because the relative delay dances around zero and changes sign). But visually we can see that the jitter stays below 100ns most of the time.</a:t>
            </a:r>
            <a:endParaRPr b="0" lang="en-US" sz="16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1600" spc="-1" strike="noStrike">
                <a:solidFill>
                  <a:srgbClr val="000000"/>
                </a:solidFill>
                <a:latin typeface="Arial"/>
              </a:rPr>
              <a:t>This is repeatable across restarts. Let me restart all the devices. I will zoom out a bit to better see the pulses.</a:t>
            </a:r>
            <a:endParaRPr b="0" lang="en-US" sz="16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1600" spc="-1" strike="noStrike">
                <a:solidFill>
                  <a:srgbClr val="000000"/>
                </a:solidFill>
                <a:latin typeface="Arial"/>
              </a:rPr>
              <a:t>First I restart the master. Note it starts blinking out of phase with slaves. Recovery from master loss is not really supported yet, but sometimes it works.</a:t>
            </a:r>
            <a:endParaRPr b="0" lang="en-US" sz="16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1600" spc="-1" strike="noStrike">
                <a:solidFill>
                  <a:srgbClr val="000000"/>
                </a:solidFill>
                <a:latin typeface="Arial"/>
              </a:rPr>
              <a:t>And now I restart the slaves, they resync too. Let me do it few more times</a:t>
            </a:r>
            <a:endParaRPr b="0" lang="en-US" sz="16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1600" spc="-1" strike="noStrike">
                <a:solidFill>
                  <a:srgbClr val="000000"/>
                </a:solidFill>
                <a:latin typeface="Arial"/>
              </a:rPr>
              <a:t>I am leaving the setup running overnight, lets see if it survives in the long run.</a:t>
            </a:r>
            <a:endParaRPr b="0" lang="en-US" sz="16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32F5633-4ADF-4A50-AFBB-149F211154E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 name="PlaceHolder 2"/>
          <p:cNvSpPr>
            <a:spLocks noGrp="1"/>
          </p:cNvSpPr>
          <p:nvPr>
            <p:ph type="subTitle"/>
          </p:nvPr>
        </p:nvSpPr>
        <p:spPr>
          <a:xfrm>
            <a:off x="1620000" y="1368000"/>
            <a:ext cx="8098200" cy="32864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9B227E7-8E3F-411E-8BA3-1AB3833BB4C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27C9FE7-DA37-43E1-9B4A-948FF25D42E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1" name="PlaceHolder 2"/>
          <p:cNvSpPr>
            <a:spLocks noGrp="1"/>
          </p:cNvSpPr>
          <p:nvPr>
            <p:ph/>
          </p:nvPr>
        </p:nvSpPr>
        <p:spPr>
          <a:xfrm>
            <a:off x="1620000" y="1368000"/>
            <a:ext cx="3951720" cy="3286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2" name="PlaceHolder 3"/>
          <p:cNvSpPr>
            <a:spLocks noGrp="1"/>
          </p:cNvSpPr>
          <p:nvPr>
            <p:ph/>
          </p:nvPr>
        </p:nvSpPr>
        <p:spPr>
          <a:xfrm>
            <a:off x="5769720" y="1368000"/>
            <a:ext cx="3951720" cy="3286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F6CB339-5E67-487E-9258-5797323A3307}"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1CC4E02-F338-4527-9FC4-A9EC8D813A7C}"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1620000" y="216000"/>
            <a:ext cx="8098200" cy="43315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4FB5E8F-AA18-46C7-A022-F5E4B419406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6" name="PlaceHolder 2"/>
          <p:cNvSpPr>
            <a:spLocks noGrp="1"/>
          </p:cNvSpPr>
          <p:nvPr>
            <p:ph/>
          </p:nvPr>
        </p:nvSpPr>
        <p:spPr>
          <a:xfrm>
            <a:off x="162000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3"/>
          <p:cNvSpPr>
            <a:spLocks noGrp="1"/>
          </p:cNvSpPr>
          <p:nvPr>
            <p:ph/>
          </p:nvPr>
        </p:nvSpPr>
        <p:spPr>
          <a:xfrm>
            <a:off x="5769720" y="1368000"/>
            <a:ext cx="3951720" cy="3286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4"/>
          <p:cNvSpPr>
            <a:spLocks noGrp="1"/>
          </p:cNvSpPr>
          <p:nvPr>
            <p:ph/>
          </p:nvPr>
        </p:nvSpPr>
        <p:spPr>
          <a:xfrm>
            <a:off x="1620000" y="308484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C168E45-7339-4619-A2B8-5DCBCE31174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0" name="PlaceHolder 2"/>
          <p:cNvSpPr>
            <a:spLocks noGrp="1"/>
          </p:cNvSpPr>
          <p:nvPr>
            <p:ph/>
          </p:nvPr>
        </p:nvSpPr>
        <p:spPr>
          <a:xfrm>
            <a:off x="1620000" y="1368000"/>
            <a:ext cx="3951720" cy="3286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1" name="PlaceHolder 3"/>
          <p:cNvSpPr>
            <a:spLocks noGrp="1"/>
          </p:cNvSpPr>
          <p:nvPr>
            <p:ph/>
          </p:nvPr>
        </p:nvSpPr>
        <p:spPr>
          <a:xfrm>
            <a:off x="576972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2" name="PlaceHolder 4"/>
          <p:cNvSpPr>
            <a:spLocks noGrp="1"/>
          </p:cNvSpPr>
          <p:nvPr>
            <p:ph/>
          </p:nvPr>
        </p:nvSpPr>
        <p:spPr>
          <a:xfrm>
            <a:off x="5769720" y="308484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16CFD39-C5A3-4F1A-A9FE-9D3511BA5125}"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4" name="PlaceHolder 2"/>
          <p:cNvSpPr>
            <a:spLocks noGrp="1"/>
          </p:cNvSpPr>
          <p:nvPr>
            <p:ph/>
          </p:nvPr>
        </p:nvSpPr>
        <p:spPr>
          <a:xfrm>
            <a:off x="162000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5" name="PlaceHolder 3"/>
          <p:cNvSpPr>
            <a:spLocks noGrp="1"/>
          </p:cNvSpPr>
          <p:nvPr>
            <p:ph/>
          </p:nvPr>
        </p:nvSpPr>
        <p:spPr>
          <a:xfrm>
            <a:off x="576972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6" name="PlaceHolder 4"/>
          <p:cNvSpPr>
            <a:spLocks noGrp="1"/>
          </p:cNvSpPr>
          <p:nvPr>
            <p:ph/>
          </p:nvPr>
        </p:nvSpPr>
        <p:spPr>
          <a:xfrm>
            <a:off x="1620000" y="3084840"/>
            <a:ext cx="809820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7EDE15C4-F254-4B5A-B089-F5E65090037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1620000" y="1368000"/>
            <a:ext cx="809820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9" name="PlaceHolder 3"/>
          <p:cNvSpPr>
            <a:spLocks noGrp="1"/>
          </p:cNvSpPr>
          <p:nvPr>
            <p:ph/>
          </p:nvPr>
        </p:nvSpPr>
        <p:spPr>
          <a:xfrm>
            <a:off x="1620000" y="3084840"/>
            <a:ext cx="809820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48612284-B61B-41E9-9984-1ED05AA63122}"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1" name="PlaceHolder 2"/>
          <p:cNvSpPr>
            <a:spLocks noGrp="1"/>
          </p:cNvSpPr>
          <p:nvPr>
            <p:ph/>
          </p:nvPr>
        </p:nvSpPr>
        <p:spPr>
          <a:xfrm>
            <a:off x="162000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2" name="PlaceHolder 3"/>
          <p:cNvSpPr>
            <a:spLocks noGrp="1"/>
          </p:cNvSpPr>
          <p:nvPr>
            <p:ph/>
          </p:nvPr>
        </p:nvSpPr>
        <p:spPr>
          <a:xfrm>
            <a:off x="5769720" y="136800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4"/>
          <p:cNvSpPr>
            <a:spLocks noGrp="1"/>
          </p:cNvSpPr>
          <p:nvPr>
            <p:ph/>
          </p:nvPr>
        </p:nvSpPr>
        <p:spPr>
          <a:xfrm>
            <a:off x="1620000" y="308484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5"/>
          <p:cNvSpPr>
            <a:spLocks noGrp="1"/>
          </p:cNvSpPr>
          <p:nvPr>
            <p:ph/>
          </p:nvPr>
        </p:nvSpPr>
        <p:spPr>
          <a:xfrm>
            <a:off x="5769720" y="3084840"/>
            <a:ext cx="395172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7793847D-A932-4B4B-AB9E-B49DE945785D}"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6" name="PlaceHolder 2"/>
          <p:cNvSpPr>
            <a:spLocks noGrp="1"/>
          </p:cNvSpPr>
          <p:nvPr>
            <p:ph/>
          </p:nvPr>
        </p:nvSpPr>
        <p:spPr>
          <a:xfrm>
            <a:off x="1620000" y="136800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3"/>
          <p:cNvSpPr>
            <a:spLocks noGrp="1"/>
          </p:cNvSpPr>
          <p:nvPr>
            <p:ph/>
          </p:nvPr>
        </p:nvSpPr>
        <p:spPr>
          <a:xfrm>
            <a:off x="4358160" y="136800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4"/>
          <p:cNvSpPr>
            <a:spLocks noGrp="1"/>
          </p:cNvSpPr>
          <p:nvPr>
            <p:ph/>
          </p:nvPr>
        </p:nvSpPr>
        <p:spPr>
          <a:xfrm>
            <a:off x="7096320" y="136800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5"/>
          <p:cNvSpPr>
            <a:spLocks noGrp="1"/>
          </p:cNvSpPr>
          <p:nvPr>
            <p:ph/>
          </p:nvPr>
        </p:nvSpPr>
        <p:spPr>
          <a:xfrm>
            <a:off x="1620000" y="308484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0" name="PlaceHolder 6"/>
          <p:cNvSpPr>
            <a:spLocks noGrp="1"/>
          </p:cNvSpPr>
          <p:nvPr>
            <p:ph/>
          </p:nvPr>
        </p:nvSpPr>
        <p:spPr>
          <a:xfrm>
            <a:off x="4358160" y="308484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1" name="PlaceHolder 7"/>
          <p:cNvSpPr>
            <a:spLocks noGrp="1"/>
          </p:cNvSpPr>
          <p:nvPr>
            <p:ph/>
          </p:nvPr>
        </p:nvSpPr>
        <p:spPr>
          <a:xfrm>
            <a:off x="7096320" y="3084840"/>
            <a:ext cx="2607480" cy="1567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4CC02D06-9F31-4BDE-BDC4-76F320226F1A}"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0" name=""/>
          <p:cNvCxnSpPr/>
          <p:nvPr/>
        </p:nvCxnSpPr>
        <p:spPr>
          <a:xfrm>
            <a:off x="540000" y="306360"/>
            <a:ext cx="722160" cy="2160"/>
          </a:xfrm>
          <a:prstGeom prst="bentConnector3">
            <a:avLst>
              <a:gd name="adj1" fmla="val 50024"/>
            </a:avLst>
          </a:prstGeom>
          <a:ln w="18000">
            <a:solidFill>
              <a:srgbClr val="2a6099"/>
            </a:solidFill>
            <a:round/>
          </a:ln>
        </p:spPr>
      </p:cxnSp>
      <p:cxnSp>
        <p:nvCxnSpPr>
          <p:cNvPr id="1" name=""/>
          <p:cNvCxnSpPr>
            <a:stCxn id="2" idx="6"/>
            <a:endCxn id="3" idx="2"/>
          </p:cNvCxnSpPr>
          <p:nvPr/>
        </p:nvCxnSpPr>
        <p:spPr>
          <a:xfrm>
            <a:off x="718200" y="485640"/>
            <a:ext cx="362160" cy="360"/>
          </a:xfrm>
          <a:prstGeom prst="bentConnector2">
            <a:avLst/>
          </a:prstGeom>
          <a:ln w="18000">
            <a:solidFill>
              <a:srgbClr val="2a6099"/>
            </a:solidFill>
            <a:round/>
          </a:ln>
        </p:spPr>
      </p:cxnSp>
      <p:cxnSp>
        <p:nvCxnSpPr>
          <p:cNvPr id="4" name=""/>
          <p:cNvCxnSpPr/>
          <p:nvPr/>
        </p:nvCxnSpPr>
        <p:spPr>
          <a:xfrm>
            <a:off x="863640" y="702360"/>
            <a:ext cx="74160" cy="1800"/>
          </a:xfrm>
          <a:prstGeom prst="bentConnector3">
            <a:avLst>
              <a:gd name="adj1" fmla="val 50243"/>
            </a:avLst>
          </a:prstGeom>
          <a:ln w="18000">
            <a:solidFill>
              <a:srgbClr val="2a6099"/>
            </a:solidFill>
            <a:round/>
          </a:ln>
        </p:spPr>
      </p:cxnSp>
      <p:cxnSp>
        <p:nvCxnSpPr>
          <p:cNvPr id="5" name=""/>
          <p:cNvCxnSpPr/>
          <p:nvPr/>
        </p:nvCxnSpPr>
        <p:spPr>
          <a:xfrm>
            <a:off x="719280" y="126000"/>
            <a:ext cx="362160" cy="1440"/>
          </a:xfrm>
          <a:prstGeom prst="bentConnector3">
            <a:avLst>
              <a:gd name="adj1" fmla="val 50049"/>
            </a:avLst>
          </a:prstGeom>
          <a:ln w="18000">
            <a:solidFill>
              <a:srgbClr val="2a6099"/>
            </a:solidFill>
            <a:round/>
          </a:ln>
        </p:spPr>
      </p:cxnSp>
      <p:cxnSp>
        <p:nvCxnSpPr>
          <p:cNvPr id="6" name=""/>
          <p:cNvCxnSpPr/>
          <p:nvPr/>
        </p:nvCxnSpPr>
        <p:spPr>
          <a:xfrm>
            <a:off x="862920" y="954000"/>
            <a:ext cx="74160" cy="1080"/>
          </a:xfrm>
          <a:prstGeom prst="bentConnector3">
            <a:avLst>
              <a:gd name="adj1" fmla="val 50243"/>
            </a:avLst>
          </a:prstGeom>
          <a:ln w="18000">
            <a:solidFill>
              <a:srgbClr val="2a6099"/>
            </a:solidFill>
            <a:round/>
          </a:ln>
        </p:spPr>
      </p:cxnSp>
      <p:cxnSp>
        <p:nvCxnSpPr>
          <p:cNvPr id="7" name=""/>
          <p:cNvCxnSpPr>
            <a:stCxn id="8" idx="6"/>
            <a:endCxn id="9" idx="2"/>
          </p:cNvCxnSpPr>
          <p:nvPr/>
        </p:nvCxnSpPr>
        <p:spPr>
          <a:xfrm rot="10800000">
            <a:off x="536040" y="1349640"/>
            <a:ext cx="722160" cy="360"/>
          </a:xfrm>
          <a:prstGeom prst="bentConnector2">
            <a:avLst/>
          </a:prstGeom>
          <a:ln w="18000">
            <a:solidFill>
              <a:srgbClr val="2a6099"/>
            </a:solidFill>
            <a:round/>
          </a:ln>
        </p:spPr>
      </p:cxnSp>
      <p:cxnSp>
        <p:nvCxnSpPr>
          <p:cNvPr id="10" name=""/>
          <p:cNvCxnSpPr>
            <a:stCxn id="11" idx="6"/>
            <a:endCxn id="12" idx="2"/>
          </p:cNvCxnSpPr>
          <p:nvPr/>
        </p:nvCxnSpPr>
        <p:spPr>
          <a:xfrm rot="10800000">
            <a:off x="716040" y="1169640"/>
            <a:ext cx="362160" cy="360"/>
          </a:xfrm>
          <a:prstGeom prst="bentConnector2">
            <a:avLst/>
          </a:prstGeom>
          <a:ln w="18000">
            <a:solidFill>
              <a:srgbClr val="2a6099"/>
            </a:solidFill>
            <a:round/>
          </a:ln>
        </p:spPr>
      </p:cxnSp>
      <p:cxnSp>
        <p:nvCxnSpPr>
          <p:cNvPr id="13" name=""/>
          <p:cNvCxnSpPr>
            <a:stCxn id="14" idx="6"/>
            <a:endCxn id="15" idx="2"/>
          </p:cNvCxnSpPr>
          <p:nvPr/>
        </p:nvCxnSpPr>
        <p:spPr>
          <a:xfrm rot="10800000">
            <a:off x="716040" y="1529640"/>
            <a:ext cx="362160" cy="360"/>
          </a:xfrm>
          <a:prstGeom prst="bentConnector2">
            <a:avLst/>
          </a:prstGeom>
          <a:ln w="18000">
            <a:solidFill>
              <a:srgbClr val="2a6099"/>
            </a:solidFill>
            <a:round/>
          </a:ln>
        </p:spPr>
      </p:cxnSp>
      <p:cxnSp>
        <p:nvCxnSpPr>
          <p:cNvPr id="16" name=""/>
          <p:cNvCxnSpPr>
            <a:stCxn id="17" idx="6"/>
            <a:endCxn id="18" idx="2"/>
          </p:cNvCxnSpPr>
          <p:nvPr/>
        </p:nvCxnSpPr>
        <p:spPr>
          <a:xfrm rot="10800000">
            <a:off x="860040" y="1745640"/>
            <a:ext cx="74160" cy="360"/>
          </a:xfrm>
          <a:prstGeom prst="bentConnector2">
            <a:avLst/>
          </a:prstGeom>
          <a:ln w="18000">
            <a:solidFill>
              <a:srgbClr val="2a6099"/>
            </a:solidFill>
            <a:round/>
          </a:ln>
        </p:spPr>
      </p:cxnSp>
      <p:cxnSp>
        <p:nvCxnSpPr>
          <p:cNvPr id="19" name=""/>
          <p:cNvCxnSpPr>
            <a:stCxn id="20" idx="6"/>
            <a:endCxn id="21" idx="2"/>
          </p:cNvCxnSpPr>
          <p:nvPr/>
        </p:nvCxnSpPr>
        <p:spPr>
          <a:xfrm rot="10800000">
            <a:off x="860040" y="1997640"/>
            <a:ext cx="74160" cy="360"/>
          </a:xfrm>
          <a:prstGeom prst="bentConnector2">
            <a:avLst/>
          </a:prstGeom>
          <a:ln w="18000">
            <a:solidFill>
              <a:srgbClr val="2a6099"/>
            </a:solidFill>
            <a:round/>
          </a:ln>
        </p:spPr>
      </p:cxnSp>
      <p:cxnSp>
        <p:nvCxnSpPr>
          <p:cNvPr id="22" name=""/>
          <p:cNvCxnSpPr>
            <a:stCxn id="23" idx="6"/>
            <a:endCxn id="24" idx="2"/>
          </p:cNvCxnSpPr>
          <p:nvPr/>
        </p:nvCxnSpPr>
        <p:spPr>
          <a:xfrm>
            <a:off x="538200" y="2393640"/>
            <a:ext cx="722160" cy="360"/>
          </a:xfrm>
          <a:prstGeom prst="bentConnector2">
            <a:avLst/>
          </a:prstGeom>
          <a:ln w="18000">
            <a:solidFill>
              <a:srgbClr val="2a6099"/>
            </a:solidFill>
            <a:round/>
          </a:ln>
        </p:spPr>
      </p:cxnSp>
      <p:cxnSp>
        <p:nvCxnSpPr>
          <p:cNvPr id="25" name=""/>
          <p:cNvCxnSpPr>
            <a:stCxn id="26" idx="6"/>
            <a:endCxn id="27" idx="2"/>
          </p:cNvCxnSpPr>
          <p:nvPr/>
        </p:nvCxnSpPr>
        <p:spPr>
          <a:xfrm>
            <a:off x="718200" y="2213640"/>
            <a:ext cx="362160" cy="360"/>
          </a:xfrm>
          <a:prstGeom prst="bentConnector2">
            <a:avLst/>
          </a:prstGeom>
          <a:ln w="18000">
            <a:solidFill>
              <a:srgbClr val="2a6099"/>
            </a:solidFill>
            <a:round/>
          </a:ln>
        </p:spPr>
      </p:cxnSp>
      <p:cxnSp>
        <p:nvCxnSpPr>
          <p:cNvPr id="28" name=""/>
          <p:cNvCxnSpPr>
            <a:stCxn id="29" idx="6"/>
            <a:endCxn id="30" idx="2"/>
          </p:cNvCxnSpPr>
          <p:nvPr/>
        </p:nvCxnSpPr>
        <p:spPr>
          <a:xfrm>
            <a:off x="718200" y="2583000"/>
            <a:ext cx="362160" cy="360"/>
          </a:xfrm>
          <a:prstGeom prst="bentConnector2">
            <a:avLst/>
          </a:prstGeom>
          <a:ln w="18000">
            <a:solidFill>
              <a:srgbClr val="2a6099"/>
            </a:solidFill>
            <a:round/>
          </a:ln>
        </p:spPr>
      </p:cxnSp>
      <p:cxnSp>
        <p:nvCxnSpPr>
          <p:cNvPr id="31" name=""/>
          <p:cNvCxnSpPr>
            <a:stCxn id="32" idx="6"/>
            <a:endCxn id="33" idx="2"/>
          </p:cNvCxnSpPr>
          <p:nvPr/>
        </p:nvCxnSpPr>
        <p:spPr>
          <a:xfrm>
            <a:off x="862200" y="2799000"/>
            <a:ext cx="74160" cy="360"/>
          </a:xfrm>
          <a:prstGeom prst="bentConnector2">
            <a:avLst/>
          </a:prstGeom>
          <a:ln w="18000">
            <a:solidFill>
              <a:srgbClr val="2a6099"/>
            </a:solidFill>
            <a:round/>
          </a:ln>
        </p:spPr>
      </p:cxnSp>
      <p:cxnSp>
        <p:nvCxnSpPr>
          <p:cNvPr id="34" name=""/>
          <p:cNvCxnSpPr>
            <a:stCxn id="35" idx="6"/>
            <a:endCxn id="36" idx="2"/>
          </p:cNvCxnSpPr>
          <p:nvPr/>
        </p:nvCxnSpPr>
        <p:spPr>
          <a:xfrm>
            <a:off x="862200" y="3051000"/>
            <a:ext cx="74160" cy="360"/>
          </a:xfrm>
          <a:prstGeom prst="bentConnector2">
            <a:avLst/>
          </a:prstGeom>
          <a:ln w="18000">
            <a:solidFill>
              <a:srgbClr val="2a6099"/>
            </a:solidFill>
            <a:round/>
          </a:ln>
        </p:spPr>
      </p:cxnSp>
      <p:cxnSp>
        <p:nvCxnSpPr>
          <p:cNvPr id="37" name=""/>
          <p:cNvCxnSpPr>
            <a:stCxn id="38" idx="6"/>
            <a:endCxn id="39" idx="2"/>
          </p:cNvCxnSpPr>
          <p:nvPr/>
        </p:nvCxnSpPr>
        <p:spPr>
          <a:xfrm rot="10800000">
            <a:off x="536040" y="3447000"/>
            <a:ext cx="722160" cy="360"/>
          </a:xfrm>
          <a:prstGeom prst="bentConnector2">
            <a:avLst/>
          </a:prstGeom>
          <a:ln w="18000">
            <a:solidFill>
              <a:srgbClr val="2a6099"/>
            </a:solidFill>
            <a:round/>
          </a:ln>
        </p:spPr>
      </p:cxnSp>
      <p:cxnSp>
        <p:nvCxnSpPr>
          <p:cNvPr id="40" name=""/>
          <p:cNvCxnSpPr>
            <a:stCxn id="41" idx="6"/>
            <a:endCxn id="42" idx="2"/>
          </p:cNvCxnSpPr>
          <p:nvPr/>
        </p:nvCxnSpPr>
        <p:spPr>
          <a:xfrm rot="10800000">
            <a:off x="734760" y="3267000"/>
            <a:ext cx="362160" cy="360"/>
          </a:xfrm>
          <a:prstGeom prst="bentConnector2">
            <a:avLst/>
          </a:prstGeom>
          <a:ln w="18000">
            <a:solidFill>
              <a:srgbClr val="2a6099"/>
            </a:solidFill>
            <a:round/>
          </a:ln>
        </p:spPr>
      </p:cxnSp>
      <p:cxnSp>
        <p:nvCxnSpPr>
          <p:cNvPr id="43" name=""/>
          <p:cNvCxnSpPr>
            <a:stCxn id="44" idx="6"/>
            <a:endCxn id="45" idx="2"/>
          </p:cNvCxnSpPr>
          <p:nvPr/>
        </p:nvCxnSpPr>
        <p:spPr>
          <a:xfrm rot="10800000">
            <a:off x="725400" y="3636000"/>
            <a:ext cx="362160" cy="360"/>
          </a:xfrm>
          <a:prstGeom prst="bentConnector2">
            <a:avLst/>
          </a:prstGeom>
          <a:ln w="18000">
            <a:solidFill>
              <a:srgbClr val="2a6099"/>
            </a:solidFill>
            <a:round/>
          </a:ln>
        </p:spPr>
      </p:cxnSp>
      <p:cxnSp>
        <p:nvCxnSpPr>
          <p:cNvPr id="46" name=""/>
          <p:cNvCxnSpPr>
            <a:stCxn id="47" idx="6"/>
            <a:endCxn id="48" idx="2"/>
          </p:cNvCxnSpPr>
          <p:nvPr/>
        </p:nvCxnSpPr>
        <p:spPr>
          <a:xfrm rot="10800000">
            <a:off x="869400" y="3852000"/>
            <a:ext cx="74160" cy="360"/>
          </a:xfrm>
          <a:prstGeom prst="bentConnector2">
            <a:avLst/>
          </a:prstGeom>
          <a:ln w="18000">
            <a:solidFill>
              <a:srgbClr val="2a6099"/>
            </a:solidFill>
            <a:round/>
          </a:ln>
        </p:spPr>
      </p:cxnSp>
      <p:cxnSp>
        <p:nvCxnSpPr>
          <p:cNvPr id="49" name=""/>
          <p:cNvCxnSpPr>
            <a:stCxn id="50" idx="6"/>
            <a:endCxn id="51" idx="2"/>
          </p:cNvCxnSpPr>
          <p:nvPr/>
        </p:nvCxnSpPr>
        <p:spPr>
          <a:xfrm rot="10800000">
            <a:off x="869400" y="4104000"/>
            <a:ext cx="74160" cy="360"/>
          </a:xfrm>
          <a:prstGeom prst="bentConnector2">
            <a:avLst/>
          </a:prstGeom>
          <a:ln w="18000">
            <a:solidFill>
              <a:srgbClr val="2a6099"/>
            </a:solidFill>
            <a:round/>
          </a:ln>
        </p:spPr>
      </p:cxnSp>
      <p:cxnSp>
        <p:nvCxnSpPr>
          <p:cNvPr id="52" name=""/>
          <p:cNvCxnSpPr>
            <a:stCxn id="53" idx="6"/>
            <a:endCxn id="54" idx="2"/>
          </p:cNvCxnSpPr>
          <p:nvPr/>
        </p:nvCxnSpPr>
        <p:spPr>
          <a:xfrm>
            <a:off x="547560" y="4500000"/>
            <a:ext cx="722160" cy="360"/>
          </a:xfrm>
          <a:prstGeom prst="bentConnector2">
            <a:avLst/>
          </a:prstGeom>
          <a:ln w="18000">
            <a:solidFill>
              <a:srgbClr val="2a6099"/>
            </a:solidFill>
            <a:round/>
          </a:ln>
        </p:spPr>
      </p:cxnSp>
      <p:cxnSp>
        <p:nvCxnSpPr>
          <p:cNvPr id="55" name=""/>
          <p:cNvCxnSpPr>
            <a:stCxn id="56" idx="6"/>
            <a:endCxn id="57" idx="2"/>
          </p:cNvCxnSpPr>
          <p:nvPr/>
        </p:nvCxnSpPr>
        <p:spPr>
          <a:xfrm>
            <a:off x="727560" y="4320000"/>
            <a:ext cx="362160" cy="360"/>
          </a:xfrm>
          <a:prstGeom prst="bentConnector2">
            <a:avLst/>
          </a:prstGeom>
          <a:ln w="18000">
            <a:solidFill>
              <a:srgbClr val="2a6099"/>
            </a:solidFill>
            <a:round/>
          </a:ln>
        </p:spPr>
      </p:cxnSp>
      <p:cxnSp>
        <p:nvCxnSpPr>
          <p:cNvPr id="58" name=""/>
          <p:cNvCxnSpPr>
            <a:stCxn id="59" idx="6"/>
            <a:endCxn id="60" idx="2"/>
          </p:cNvCxnSpPr>
          <p:nvPr/>
        </p:nvCxnSpPr>
        <p:spPr>
          <a:xfrm>
            <a:off x="727560" y="4680000"/>
            <a:ext cx="362160" cy="360"/>
          </a:xfrm>
          <a:prstGeom prst="bentConnector2">
            <a:avLst/>
          </a:prstGeom>
          <a:ln w="18000">
            <a:solidFill>
              <a:srgbClr val="2a6099"/>
            </a:solidFill>
            <a:round/>
          </a:ln>
        </p:spPr>
      </p:cxnSp>
      <p:cxnSp>
        <p:nvCxnSpPr>
          <p:cNvPr id="61" name=""/>
          <p:cNvCxnSpPr>
            <a:stCxn id="62" idx="6"/>
            <a:endCxn id="63" idx="2"/>
          </p:cNvCxnSpPr>
          <p:nvPr/>
        </p:nvCxnSpPr>
        <p:spPr>
          <a:xfrm>
            <a:off x="871560" y="4896000"/>
            <a:ext cx="74160" cy="360"/>
          </a:xfrm>
          <a:prstGeom prst="bentConnector2">
            <a:avLst/>
          </a:prstGeom>
          <a:ln w="18000">
            <a:solidFill>
              <a:srgbClr val="2a6099"/>
            </a:solidFill>
            <a:round/>
          </a:ln>
        </p:spPr>
      </p:cxnSp>
      <p:cxnSp>
        <p:nvCxnSpPr>
          <p:cNvPr id="64" name=""/>
          <p:cNvCxnSpPr>
            <a:stCxn id="65" idx="6"/>
            <a:endCxn id="66" idx="2"/>
          </p:cNvCxnSpPr>
          <p:nvPr/>
        </p:nvCxnSpPr>
        <p:spPr>
          <a:xfrm>
            <a:off x="871560" y="5148000"/>
            <a:ext cx="74160" cy="360"/>
          </a:xfrm>
          <a:prstGeom prst="bentConnector2">
            <a:avLst/>
          </a:prstGeom>
          <a:ln w="18000">
            <a:solidFill>
              <a:srgbClr val="2a6099"/>
            </a:solidFill>
            <a:round/>
          </a:ln>
        </p:spPr>
      </p:cxnSp>
      <p:cxnSp>
        <p:nvCxnSpPr>
          <p:cNvPr id="67" name=""/>
          <p:cNvCxnSpPr>
            <a:stCxn id="68" idx="6"/>
            <a:endCxn id="69" idx="2"/>
          </p:cNvCxnSpPr>
          <p:nvPr/>
        </p:nvCxnSpPr>
        <p:spPr>
          <a:xfrm rot="10800000">
            <a:off x="545400" y="5544000"/>
            <a:ext cx="722160" cy="360"/>
          </a:xfrm>
          <a:prstGeom prst="bentConnector2">
            <a:avLst/>
          </a:prstGeom>
          <a:ln w="18000">
            <a:solidFill>
              <a:srgbClr val="2a6099"/>
            </a:solidFill>
            <a:round/>
          </a:ln>
        </p:spPr>
      </p:cxnSp>
      <p:cxnSp>
        <p:nvCxnSpPr>
          <p:cNvPr id="70" name=""/>
          <p:cNvCxnSpPr>
            <a:stCxn id="71" idx="6"/>
            <a:endCxn id="72" idx="2"/>
          </p:cNvCxnSpPr>
          <p:nvPr/>
        </p:nvCxnSpPr>
        <p:spPr>
          <a:xfrm rot="10800000">
            <a:off x="725400" y="5364000"/>
            <a:ext cx="362160" cy="360"/>
          </a:xfrm>
          <a:prstGeom prst="bentConnector2">
            <a:avLst/>
          </a:prstGeom>
          <a:ln w="18000">
            <a:solidFill>
              <a:srgbClr val="2a6099"/>
            </a:solidFill>
            <a:round/>
          </a:ln>
        </p:spPr>
      </p:cxnSp>
      <p:sp>
        <p:nvSpPr>
          <p:cNvPr id="73" name=""/>
          <p:cNvSpPr/>
          <p:nvPr/>
        </p:nvSpPr>
        <p:spPr>
          <a:xfrm>
            <a:off x="1260000" y="216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 name=""/>
          <p:cNvSpPr/>
          <p:nvPr/>
        </p:nvSpPr>
        <p:spPr>
          <a:xfrm>
            <a:off x="1080000" y="396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4" name=""/>
          <p:cNvSpPr/>
          <p:nvPr/>
        </p:nvSpPr>
        <p:spPr>
          <a:xfrm>
            <a:off x="1080000" y="36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5" name=""/>
          <p:cNvSpPr/>
          <p:nvPr/>
        </p:nvSpPr>
        <p:spPr>
          <a:xfrm>
            <a:off x="936000" y="612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6" name=""/>
          <p:cNvSpPr/>
          <p:nvPr/>
        </p:nvSpPr>
        <p:spPr>
          <a:xfrm>
            <a:off x="936000" y="864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8" name=""/>
          <p:cNvSpPr/>
          <p:nvPr/>
        </p:nvSpPr>
        <p:spPr>
          <a:xfrm flipH="1">
            <a:off x="1257840" y="1260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1" name=""/>
          <p:cNvSpPr/>
          <p:nvPr/>
        </p:nvSpPr>
        <p:spPr>
          <a:xfrm flipH="1">
            <a:off x="1077840" y="1080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4" name=""/>
          <p:cNvSpPr/>
          <p:nvPr/>
        </p:nvSpPr>
        <p:spPr>
          <a:xfrm flipH="1">
            <a:off x="1077840" y="1440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7" name=""/>
          <p:cNvSpPr/>
          <p:nvPr/>
        </p:nvSpPr>
        <p:spPr>
          <a:xfrm flipH="1">
            <a:off x="933840" y="1656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0" name=""/>
          <p:cNvSpPr/>
          <p:nvPr/>
        </p:nvSpPr>
        <p:spPr>
          <a:xfrm flipH="1">
            <a:off x="933840" y="1908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4" name=""/>
          <p:cNvSpPr/>
          <p:nvPr/>
        </p:nvSpPr>
        <p:spPr>
          <a:xfrm>
            <a:off x="1260000" y="2304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7" name=""/>
          <p:cNvSpPr/>
          <p:nvPr/>
        </p:nvSpPr>
        <p:spPr>
          <a:xfrm>
            <a:off x="1080000" y="2124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0" name=""/>
          <p:cNvSpPr/>
          <p:nvPr/>
        </p:nvSpPr>
        <p:spPr>
          <a:xfrm>
            <a:off x="1080000" y="2493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3" name=""/>
          <p:cNvSpPr/>
          <p:nvPr/>
        </p:nvSpPr>
        <p:spPr>
          <a:xfrm>
            <a:off x="936000" y="2709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6" name=""/>
          <p:cNvSpPr/>
          <p:nvPr/>
        </p:nvSpPr>
        <p:spPr>
          <a:xfrm>
            <a:off x="936000" y="2961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8" name=""/>
          <p:cNvSpPr/>
          <p:nvPr/>
        </p:nvSpPr>
        <p:spPr>
          <a:xfrm flipH="1">
            <a:off x="1257840" y="3357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1" name=""/>
          <p:cNvSpPr/>
          <p:nvPr/>
        </p:nvSpPr>
        <p:spPr>
          <a:xfrm flipH="1">
            <a:off x="1096560" y="3177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4" name=""/>
          <p:cNvSpPr/>
          <p:nvPr/>
        </p:nvSpPr>
        <p:spPr>
          <a:xfrm flipH="1">
            <a:off x="1087200" y="3546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7" name=""/>
          <p:cNvSpPr/>
          <p:nvPr/>
        </p:nvSpPr>
        <p:spPr>
          <a:xfrm flipH="1">
            <a:off x="943200" y="3762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0" name=""/>
          <p:cNvSpPr/>
          <p:nvPr/>
        </p:nvSpPr>
        <p:spPr>
          <a:xfrm flipH="1">
            <a:off x="943200" y="4014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4" name=""/>
          <p:cNvSpPr/>
          <p:nvPr/>
        </p:nvSpPr>
        <p:spPr>
          <a:xfrm>
            <a:off x="1269360" y="4410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7" name=""/>
          <p:cNvSpPr/>
          <p:nvPr/>
        </p:nvSpPr>
        <p:spPr>
          <a:xfrm>
            <a:off x="1089360" y="4230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0" name=""/>
          <p:cNvSpPr/>
          <p:nvPr/>
        </p:nvSpPr>
        <p:spPr>
          <a:xfrm>
            <a:off x="1089360" y="4590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3" name=""/>
          <p:cNvSpPr/>
          <p:nvPr/>
        </p:nvSpPr>
        <p:spPr>
          <a:xfrm>
            <a:off x="945360" y="4806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6" name=""/>
          <p:cNvSpPr/>
          <p:nvPr/>
        </p:nvSpPr>
        <p:spPr>
          <a:xfrm>
            <a:off x="945360" y="5058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9" name=""/>
          <p:cNvSpPr/>
          <p:nvPr/>
        </p:nvSpPr>
        <p:spPr>
          <a:xfrm flipH="1">
            <a:off x="367200" y="5454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2" name=""/>
          <p:cNvSpPr/>
          <p:nvPr/>
        </p:nvSpPr>
        <p:spPr>
          <a:xfrm flipH="1">
            <a:off x="547200" y="5274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7" name=""/>
          <p:cNvSpPr/>
          <p:nvPr/>
        </p:nvSpPr>
        <p:spPr>
          <a:xfrm>
            <a:off x="360000" y="216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 name=""/>
          <p:cNvSpPr/>
          <p:nvPr/>
        </p:nvSpPr>
        <p:spPr>
          <a:xfrm>
            <a:off x="540000" y="396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8" name=""/>
          <p:cNvSpPr/>
          <p:nvPr/>
        </p:nvSpPr>
        <p:spPr>
          <a:xfrm>
            <a:off x="540000" y="36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9" name=""/>
          <p:cNvSpPr/>
          <p:nvPr/>
        </p:nvSpPr>
        <p:spPr>
          <a:xfrm>
            <a:off x="684000" y="612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80" name=""/>
          <p:cNvSpPr/>
          <p:nvPr/>
        </p:nvSpPr>
        <p:spPr>
          <a:xfrm>
            <a:off x="684000" y="864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9" name=""/>
          <p:cNvSpPr/>
          <p:nvPr/>
        </p:nvSpPr>
        <p:spPr>
          <a:xfrm flipH="1">
            <a:off x="357840" y="1260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2" name=""/>
          <p:cNvSpPr/>
          <p:nvPr/>
        </p:nvSpPr>
        <p:spPr>
          <a:xfrm flipH="1">
            <a:off x="537840" y="1080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5" name=""/>
          <p:cNvSpPr/>
          <p:nvPr/>
        </p:nvSpPr>
        <p:spPr>
          <a:xfrm flipH="1">
            <a:off x="537840" y="1440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18" name=""/>
          <p:cNvSpPr/>
          <p:nvPr/>
        </p:nvSpPr>
        <p:spPr>
          <a:xfrm flipH="1">
            <a:off x="681840" y="165636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1" name=""/>
          <p:cNvSpPr/>
          <p:nvPr/>
        </p:nvSpPr>
        <p:spPr>
          <a:xfrm flipH="1">
            <a:off x="681840" y="1908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3" name=""/>
          <p:cNvSpPr/>
          <p:nvPr/>
        </p:nvSpPr>
        <p:spPr>
          <a:xfrm>
            <a:off x="360000" y="2304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6" name=""/>
          <p:cNvSpPr/>
          <p:nvPr/>
        </p:nvSpPr>
        <p:spPr>
          <a:xfrm>
            <a:off x="540000" y="212436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29" name=""/>
          <p:cNvSpPr/>
          <p:nvPr/>
        </p:nvSpPr>
        <p:spPr>
          <a:xfrm>
            <a:off x="540000" y="2493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2" name=""/>
          <p:cNvSpPr/>
          <p:nvPr/>
        </p:nvSpPr>
        <p:spPr>
          <a:xfrm>
            <a:off x="684000" y="2709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5" name=""/>
          <p:cNvSpPr/>
          <p:nvPr/>
        </p:nvSpPr>
        <p:spPr>
          <a:xfrm>
            <a:off x="684000" y="2961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39" name=""/>
          <p:cNvSpPr/>
          <p:nvPr/>
        </p:nvSpPr>
        <p:spPr>
          <a:xfrm flipH="1">
            <a:off x="357840" y="3357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2" name=""/>
          <p:cNvSpPr/>
          <p:nvPr/>
        </p:nvSpPr>
        <p:spPr>
          <a:xfrm flipH="1">
            <a:off x="556560" y="3177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5" name=""/>
          <p:cNvSpPr/>
          <p:nvPr/>
        </p:nvSpPr>
        <p:spPr>
          <a:xfrm flipH="1">
            <a:off x="547200" y="3546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8" name=""/>
          <p:cNvSpPr/>
          <p:nvPr/>
        </p:nvSpPr>
        <p:spPr>
          <a:xfrm flipH="1">
            <a:off x="691200" y="3762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1" name=""/>
          <p:cNvSpPr/>
          <p:nvPr/>
        </p:nvSpPr>
        <p:spPr>
          <a:xfrm flipH="1">
            <a:off x="691200" y="4014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3" name=""/>
          <p:cNvSpPr/>
          <p:nvPr/>
        </p:nvSpPr>
        <p:spPr>
          <a:xfrm>
            <a:off x="369360" y="4410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6" name=""/>
          <p:cNvSpPr/>
          <p:nvPr/>
        </p:nvSpPr>
        <p:spPr>
          <a:xfrm>
            <a:off x="549360" y="4230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59" name=""/>
          <p:cNvSpPr/>
          <p:nvPr/>
        </p:nvSpPr>
        <p:spPr>
          <a:xfrm>
            <a:off x="549360" y="4590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2" name=""/>
          <p:cNvSpPr/>
          <p:nvPr/>
        </p:nvSpPr>
        <p:spPr>
          <a:xfrm>
            <a:off x="693360" y="4806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5" name=""/>
          <p:cNvSpPr/>
          <p:nvPr/>
        </p:nvSpPr>
        <p:spPr>
          <a:xfrm>
            <a:off x="693360" y="5058720"/>
            <a:ext cx="178200" cy="178200"/>
          </a:xfrm>
          <a:prstGeom prst="ellipse">
            <a:avLst/>
          </a:prstGeom>
          <a:solidFill>
            <a:srgbClr val="ffd8ce"/>
          </a:solidFill>
          <a:ln w="18000">
            <a:solidFill>
              <a:srgbClr val="ff4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68" name=""/>
          <p:cNvSpPr/>
          <p:nvPr/>
        </p:nvSpPr>
        <p:spPr>
          <a:xfrm flipH="1">
            <a:off x="1267200" y="5454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71" name=""/>
          <p:cNvSpPr/>
          <p:nvPr/>
        </p:nvSpPr>
        <p:spPr>
          <a:xfrm flipH="1">
            <a:off x="1087200" y="5274720"/>
            <a:ext cx="178200" cy="178200"/>
          </a:xfrm>
          <a:prstGeom prst="ellipse">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81"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2" name="PlaceHolder 2"/>
          <p:cNvSpPr>
            <a:spLocks noGrp="1"/>
          </p:cNvSpPr>
          <p:nvPr>
            <p:ph type="body"/>
          </p:nvPr>
        </p:nvSpPr>
        <p:spPr>
          <a:xfrm>
            <a:off x="1620000" y="1368000"/>
            <a:ext cx="8098200" cy="3286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3" name="PlaceHolder 3"/>
          <p:cNvSpPr>
            <a:spLocks noGrp="1"/>
          </p:cNvSpPr>
          <p:nvPr>
            <p:ph type="ftr" idx="1"/>
          </p:nvPr>
        </p:nvSpPr>
        <p:spPr>
          <a:xfrm>
            <a:off x="3987000" y="5164920"/>
            <a:ext cx="3193200" cy="38880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Arial"/>
              </a:defRPr>
            </a:lvl1pPr>
          </a:lstStyle>
          <a:p>
            <a:pPr indent="0" algn="r">
              <a:lnSpc>
                <a:spcPct val="100000"/>
              </a:lnSpc>
              <a:buNone/>
              <a:tabLst>
                <a:tab algn="l" pos="0"/>
              </a:tabLst>
            </a:pPr>
            <a:r>
              <a:rPr b="0" lang="en-US"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4" name="PlaceHolder 4"/>
          <p:cNvSpPr>
            <a:spLocks noGrp="1"/>
          </p:cNvSpPr>
          <p:nvPr>
            <p:ph type="sldNum" idx="2"/>
          </p:nvPr>
        </p:nvSpPr>
        <p:spPr>
          <a:xfrm>
            <a:off x="7227000" y="5164920"/>
            <a:ext cx="2346480" cy="38880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Arial"/>
              </a:defRPr>
            </a:lvl1pPr>
          </a:lstStyle>
          <a:p>
            <a:pPr indent="0" algn="r">
              <a:lnSpc>
                <a:spcPct val="100000"/>
              </a:lnSpc>
              <a:buNone/>
              <a:tabLst>
                <a:tab algn="l" pos="0"/>
              </a:tabLst>
            </a:pPr>
            <a:fld id="{6A0C80CE-7E96-40F1-90A5-7CD01A1240D6}" type="slidenum">
              <a:rPr b="0" lang="en-US"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5" name="PlaceHolder 5"/>
          <p:cNvSpPr>
            <a:spLocks noGrp="1"/>
          </p:cNvSpPr>
          <p:nvPr>
            <p:ph type="dt" idx="3"/>
          </p:nvPr>
        </p:nvSpPr>
        <p:spPr>
          <a:xfrm>
            <a:off x="1584000" y="5164920"/>
            <a:ext cx="234648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hyperlink" Target="https://github.com/abbbe/fts/" TargetMode="External"/><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s://www.winlab.rutgers.edu/~gruteser/projects/ftm/index.htm" TargetMode="External"/><Relationship Id="rId3"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hyperlink" Target="https://github.com/espressif/esp-idf/issues/15348" TargetMode="External"/><Relationship Id="rId2" Type="http://schemas.openxmlformats.org/officeDocument/2006/relationships/hyperlink" Target="https://github.com/espressif/esp-idf/issues/9843" TargetMode="External"/><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FTS</a:t>
            </a:r>
            <a:endParaRPr b="0" lang="en-US" sz="3300" spc="-1" strike="noStrike">
              <a:solidFill>
                <a:srgbClr val="000000"/>
              </a:solidFill>
              <a:latin typeface="Arial"/>
            </a:endParaRPr>
          </a:p>
        </p:txBody>
      </p:sp>
      <p:sp>
        <p:nvSpPr>
          <p:cNvPr id="129" name="PlaceHolder 2"/>
          <p:cNvSpPr>
            <a:spLocks noGrp="1"/>
          </p:cNvSpPr>
          <p:nvPr>
            <p:ph type="subTitle"/>
          </p:nvPr>
        </p:nvSpPr>
        <p:spPr>
          <a:xfrm>
            <a:off x="1620000" y="1368000"/>
            <a:ext cx="8098200" cy="3286440"/>
          </a:xfrm>
          <a:prstGeom prst="rect">
            <a:avLst/>
          </a:prstGeom>
          <a:noFill/>
          <a:ln w="0">
            <a:noFill/>
          </a:ln>
        </p:spPr>
        <p:txBody>
          <a:bodyPr lIns="0" rIns="0" tIns="0" bIns="0" anchor="ctr">
            <a:noAutofit/>
          </a:bodyPr>
          <a:p>
            <a:pPr indent="0" algn="ctr">
              <a:lnSpc>
                <a:spcPct val="100000"/>
              </a:lnSpc>
              <a:buNone/>
              <a:tabLst>
                <a:tab algn="l" pos="0"/>
              </a:tabLst>
            </a:pPr>
            <a:endParaRPr b="0" lang="en-US" sz="3200" spc="-1" strike="noStrike">
              <a:solidFill>
                <a:srgbClr val="000000"/>
              </a:solidFill>
              <a:latin typeface="Arial"/>
            </a:endParaRPr>
          </a:p>
          <a:p>
            <a:pPr indent="0" algn="ctr">
              <a:lnSpc>
                <a:spcPct val="100000"/>
              </a:lnSpc>
              <a:buNone/>
              <a:tabLst>
                <a:tab algn="l" pos="0"/>
              </a:tabLst>
            </a:pPr>
            <a:r>
              <a:rPr b="1" lang="en-US" sz="3200" spc="-1" strike="noStrike">
                <a:solidFill>
                  <a:srgbClr val="000000"/>
                </a:solidFill>
                <a:latin typeface="Times New Roman"/>
              </a:rPr>
              <a:t>Fine Time Sync v0.1</a:t>
            </a:r>
            <a:endParaRPr b="0" lang="en-US" sz="3200" spc="-1" strike="noStrike">
              <a:solidFill>
                <a:srgbClr val="000000"/>
              </a:solidFill>
              <a:latin typeface="Arial"/>
            </a:endParaRPr>
          </a:p>
          <a:p>
            <a:pPr indent="0" algn="ctr">
              <a:lnSpc>
                <a:spcPct val="100000"/>
              </a:lnSpc>
              <a:buNone/>
              <a:tabLst>
                <a:tab algn="l" pos="0"/>
              </a:tabLst>
            </a:pPr>
            <a:endParaRPr b="0" lang="en-US" sz="3200" spc="-1" strike="noStrike">
              <a:solidFill>
                <a:srgbClr val="000000"/>
              </a:solidFill>
              <a:latin typeface="Arial"/>
            </a:endParaRPr>
          </a:p>
          <a:p>
            <a:pPr indent="0" algn="ctr">
              <a:lnSpc>
                <a:spcPct val="100000"/>
              </a:lnSpc>
              <a:buNone/>
              <a:tabLst>
                <a:tab algn="l" pos="0"/>
              </a:tabLst>
            </a:pPr>
            <a:r>
              <a:rPr b="0" lang="en-US" sz="2100" spc="-1" strike="noStrike">
                <a:solidFill>
                  <a:srgbClr val="000000"/>
                </a:solidFill>
                <a:latin typeface="Times New Roman"/>
              </a:rPr>
              <a:t>Source code (GPLv3): </a:t>
            </a:r>
            <a:r>
              <a:rPr b="0" lang="en-US" sz="2100" spc="-1" strike="noStrike">
                <a:solidFill>
                  <a:srgbClr val="000000"/>
                </a:solidFill>
                <a:latin typeface="Times New Roman"/>
                <a:hlinkClick r:id="rId1"/>
              </a:rPr>
              <a:t>https://github.com/abbbe/fts/</a:t>
            </a:r>
            <a:r>
              <a:rPr b="0" lang="en-US" sz="2100" spc="-1" strike="noStrike">
                <a:solidFill>
                  <a:srgbClr val="000000"/>
                </a:solidFill>
                <a:latin typeface="Times New Roman"/>
              </a:rPr>
              <a:t> </a:t>
            </a:r>
            <a:endParaRPr b="0" lang="en-US" sz="2100" spc="-1" strike="noStrike">
              <a:solidFill>
                <a:srgbClr val="000000"/>
              </a:solidFill>
              <a:latin typeface="Arial"/>
            </a:endParaRPr>
          </a:p>
          <a:p>
            <a:pPr indent="0" algn="ctr">
              <a:lnSpc>
                <a:spcPct val="100000"/>
              </a:lnSpc>
              <a:buNone/>
              <a:tabLst>
                <a:tab algn="l" pos="0"/>
              </a:tabLst>
            </a:pPr>
            <a:r>
              <a:rPr b="0" lang="en-US" sz="2100" spc="-1" strike="noStrike">
                <a:solidFill>
                  <a:srgbClr val="000000"/>
                </a:solidFill>
                <a:latin typeface="Times New Roman"/>
              </a:rPr>
              <a:t>Author: Alexandre Bezroutchko</a:t>
            </a:r>
            <a:endParaRPr b="0" lang="en-US" sz="2100" spc="-1" strike="noStrike">
              <a:solidFill>
                <a:srgbClr val="000000"/>
              </a:solidFill>
              <a:latin typeface="Arial"/>
            </a:endParaRPr>
          </a:p>
          <a:p>
            <a:pPr indent="0" algn="ctr">
              <a:lnSpc>
                <a:spcPct val="100000"/>
              </a:lnSpc>
              <a:buNone/>
              <a:tabLst>
                <a:tab algn="l" pos="0"/>
              </a:tabLst>
            </a:pPr>
            <a:r>
              <a:rPr b="0" lang="en-US" sz="2100" spc="-1" strike="noStrike">
                <a:solidFill>
                  <a:srgbClr val="000000"/>
                </a:solidFill>
                <a:latin typeface="Times New Roman"/>
              </a:rPr>
              <a:t>3/12/2025</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B3B005AE-2385-4D22-8621-B5A51457C048}"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My Use Case</a:t>
            </a:r>
            <a:endParaRPr b="0" lang="en-US" sz="3300" spc="-1" strike="noStrike">
              <a:solidFill>
                <a:srgbClr val="000000"/>
              </a:solidFill>
              <a:latin typeface="Arial"/>
            </a:endParaRPr>
          </a:p>
        </p:txBody>
      </p:sp>
      <p:sp>
        <p:nvSpPr>
          <p:cNvPr id="131"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97000"/>
          </a:bodyPr>
          <a:p>
            <a:pPr marL="465480" indent="-3492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Two synchronized wireless accelerometers</a:t>
            </a:r>
            <a:endParaRPr b="0" lang="en-US" sz="2400" spc="-1" strike="noStrike">
              <a:solidFill>
                <a:srgbClr val="000000"/>
              </a:solidFill>
              <a:latin typeface="Arial"/>
            </a:endParaRPr>
          </a:p>
          <a:p>
            <a:pPr lvl="1" marL="930960" indent="-3492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Sample sensors simultaneously</a:t>
            </a:r>
            <a:endParaRPr b="0" lang="en-US" sz="2100" spc="-1" strike="noStrike">
              <a:solidFill>
                <a:srgbClr val="000000"/>
              </a:solidFill>
              <a:latin typeface="Arial"/>
            </a:endParaRPr>
          </a:p>
          <a:p>
            <a:pPr lvl="1" marL="930960" indent="-3492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Timestamps from aligned clocks</a:t>
            </a:r>
            <a:endParaRPr b="0" lang="en-US" sz="2100" spc="-1" strike="noStrike">
              <a:solidFill>
                <a:srgbClr val="000000"/>
              </a:solidFill>
              <a:latin typeface="Arial"/>
            </a:endParaRPr>
          </a:p>
          <a:p>
            <a:pPr lvl="1" marL="930960" indent="-3492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Send data to a remote host for processing</a:t>
            </a:r>
            <a:endParaRPr b="0" lang="en-US" sz="2100" spc="-1" strike="noStrike">
              <a:solidFill>
                <a:srgbClr val="000000"/>
              </a:solidFill>
              <a:latin typeface="Arial"/>
            </a:endParaRPr>
          </a:p>
          <a:p>
            <a:pPr marL="930960" indent="0">
              <a:lnSpc>
                <a:spcPct val="100000"/>
              </a:lnSpc>
              <a:spcAft>
                <a:spcPts val="848"/>
              </a:spcAft>
              <a:buNone/>
              <a:tabLst>
                <a:tab algn="l" pos="0"/>
              </a:tabLst>
            </a:pPr>
            <a:endParaRPr b="0" lang="en-US" sz="2100" spc="-1" strike="noStrike">
              <a:solidFill>
                <a:srgbClr val="000000"/>
              </a:solidFill>
              <a:latin typeface="Arial"/>
            </a:endParaRPr>
          </a:p>
          <a:p>
            <a:pPr marL="465480" indent="-3492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Looking for a library to</a:t>
            </a:r>
            <a:endParaRPr b="0" lang="en-US" sz="2400" spc="-1" strike="noStrike">
              <a:solidFill>
                <a:srgbClr val="000000"/>
              </a:solidFill>
              <a:latin typeface="Arial"/>
            </a:endParaRPr>
          </a:p>
          <a:p>
            <a:pPr lvl="1" marL="930960" indent="-3492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Sync local clock to a remote clock</a:t>
            </a:r>
            <a:endParaRPr b="0" lang="en-US" sz="2100" spc="-1" strike="noStrike">
              <a:solidFill>
                <a:srgbClr val="000000"/>
              </a:solidFill>
              <a:latin typeface="Arial"/>
            </a:endParaRPr>
          </a:p>
          <a:p>
            <a:pPr lvl="1" marL="930960" indent="-3492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Discipline the local timer to a remote timer</a:t>
            </a:r>
            <a:endParaRPr b="0" lang="en-US" sz="2100" spc="-1" strike="noStrike">
              <a:solidFill>
                <a:srgbClr val="000000"/>
              </a:solidFill>
              <a:latin typeface="Arial"/>
            </a:endParaRPr>
          </a:p>
        </p:txBody>
      </p:sp>
      <p:sp>
        <p:nvSpPr>
          <p:cNvPr id="132" name=""/>
          <p:cNvSpPr/>
          <p:nvPr/>
        </p:nvSpPr>
        <p:spPr>
          <a:xfrm>
            <a:off x="9601200" y="6172200"/>
            <a:ext cx="357840" cy="357840"/>
          </a:xfrm>
          <a:prstGeom prst="rect">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000000"/>
              </a:solidFill>
              <a:latin typeface="Arial"/>
              <a:ea typeface="DejaVu Sans"/>
            </a:endParaRPr>
          </a:p>
        </p:txBody>
      </p:sp>
      <p:sp>
        <p:nvSpPr>
          <p:cNvPr id="4" name="PlaceHolder 3"/>
          <p:cNvSpPr>
            <a:spLocks noGrp="1"/>
          </p:cNvSpPr>
          <p:nvPr>
            <p:ph type="sldNum" idx="2"/>
          </p:nvPr>
        </p:nvSpPr>
        <p:spPr/>
        <p:txBody>
          <a:bodyPr/>
          <a:p>
            <a:fld id="{76A2665B-61DC-47BF-9345-6792934E0553}"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In the ideal world...</a:t>
            </a:r>
            <a:endParaRPr b="0" lang="en-US" sz="3300" spc="-1" strike="noStrike">
              <a:solidFill>
                <a:srgbClr val="000000"/>
              </a:solidFill>
              <a:latin typeface="Arial"/>
            </a:endParaRPr>
          </a:p>
        </p:txBody>
      </p:sp>
      <p:sp>
        <p:nvSpPr>
          <p:cNvPr id="134" name="PlaceHolder 2"/>
          <p:cNvSpPr>
            <a:spLocks noGrp="1"/>
          </p:cNvSpPr>
          <p:nvPr>
            <p:ph/>
          </p:nvPr>
        </p:nvSpPr>
        <p:spPr>
          <a:xfrm>
            <a:off x="1620000" y="1368000"/>
            <a:ext cx="2950200" cy="365940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Choose a role</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Set period</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Handle callbacks</a:t>
            </a:r>
            <a:endParaRPr b="0" lang="en-US" sz="2400" spc="-1" strike="noStrike">
              <a:solidFill>
                <a:srgbClr val="000000"/>
              </a:solidFill>
              <a:latin typeface="Arial"/>
            </a:endParaRPr>
          </a:p>
          <a:p>
            <a:pPr marL="432000" indent="0">
              <a:lnSpc>
                <a:spcPct val="100000"/>
              </a:lnSpc>
              <a:spcAft>
                <a:spcPts val="1060"/>
              </a:spcAft>
              <a:buNone/>
            </a:pPr>
            <a:endParaRPr b="0" lang="en-US" sz="2400" spc="-1" strike="noStrike">
              <a:solidFill>
                <a:srgbClr val="000000"/>
              </a:solidFill>
              <a:latin typeface="Arial"/>
            </a:endParaRPr>
          </a:p>
          <a:p>
            <a:pPr marL="432000" indent="0">
              <a:lnSpc>
                <a:spcPct val="100000"/>
              </a:lnSpc>
              <a:spcAft>
                <a:spcPts val="1060"/>
              </a:spcAft>
              <a:buNone/>
            </a:pPr>
            <a:endParaRPr b="0" lang="en-US" sz="2400" spc="-1" strike="noStrike">
              <a:solidFill>
                <a:srgbClr val="000000"/>
              </a:solidFill>
              <a:latin typeface="Arial"/>
            </a:endParaRPr>
          </a:p>
          <a:p>
            <a:pPr marL="432000" indent="0">
              <a:lnSpc>
                <a:spcPct val="100000"/>
              </a:lnSpc>
              <a:spcAft>
                <a:spcPts val="1060"/>
              </a:spcAft>
              <a:buNone/>
            </a:pPr>
            <a:r>
              <a:rPr b="0" lang="en-US" sz="2400" spc="-1" strike="noStrike">
                <a:solidFill>
                  <a:srgbClr val="050505"/>
                </a:solidFill>
                <a:latin typeface="Arial"/>
              </a:rPr>
              <a:t>No such thing, lets try to get close...</a:t>
            </a:r>
            <a:endParaRPr b="0" lang="en-US" sz="2400" spc="-1" strike="noStrike">
              <a:solidFill>
                <a:srgbClr val="000000"/>
              </a:solidFill>
              <a:latin typeface="Arial"/>
            </a:endParaRPr>
          </a:p>
        </p:txBody>
      </p:sp>
      <p:pic>
        <p:nvPicPr>
          <p:cNvPr id="135" name="" descr=""/>
          <p:cNvPicPr/>
          <p:nvPr/>
        </p:nvPicPr>
        <p:blipFill>
          <a:blip r:embed="rId1"/>
          <a:stretch/>
        </p:blipFill>
        <p:spPr>
          <a:xfrm>
            <a:off x="5029200" y="1143000"/>
            <a:ext cx="4113720" cy="3863160"/>
          </a:xfrm>
          <a:prstGeom prst="rect">
            <a:avLst/>
          </a:prstGeom>
          <a:ln w="18000">
            <a:noFill/>
          </a:ln>
        </p:spPr>
      </p:pic>
      <p:sp>
        <p:nvSpPr>
          <p:cNvPr id="4" name="PlaceHolder 3"/>
          <p:cNvSpPr>
            <a:spLocks noGrp="1"/>
          </p:cNvSpPr>
          <p:nvPr>
            <p:ph type="sldNum" idx="2"/>
          </p:nvPr>
        </p:nvSpPr>
        <p:spPr/>
        <p:txBody>
          <a:bodyPr/>
          <a:p>
            <a:fld id="{38F24A04-4ECF-46C5-B220-E9165476447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General Idea</a:t>
            </a:r>
            <a:endParaRPr b="0" lang="en-US" sz="3300" spc="-1" strike="noStrike">
              <a:solidFill>
                <a:srgbClr val="000000"/>
              </a:solidFill>
              <a:latin typeface="Arial"/>
            </a:endParaRPr>
          </a:p>
        </p:txBody>
      </p:sp>
      <p:sp>
        <p:nvSpPr>
          <p:cNvPr id="137"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Mechanism to measure master/slave clocks offset</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Figure out a robust local clock (for master &amp; slave)</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Build a Clock Relationship Model</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Slave local clock &lt;=&gt; master local clock translation</a:t>
            </a:r>
            <a:endParaRPr b="0" lang="en-US" sz="21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Discipline the local timer</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Fine adjustments to timer phase and period</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1" lang="en-US" sz="2100" spc="-1" strike="noStrike">
                <a:solidFill>
                  <a:srgbClr val="050505"/>
                </a:solidFill>
                <a:latin typeface="Arial"/>
              </a:rPr>
              <a:t>TEZ to occur simultaneously on master and slave</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BF208420-B221-418E-A26E-BCA9F29E0528}"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Fine Time Measurements</a:t>
            </a:r>
            <a:endParaRPr b="0" lang="en-US" sz="3300" spc="-1" strike="noStrike">
              <a:solidFill>
                <a:srgbClr val="000000"/>
              </a:solidFill>
              <a:latin typeface="Arial"/>
            </a:endParaRPr>
          </a:p>
        </p:txBody>
      </p:sp>
      <p:sp>
        <p:nvSpPr>
          <p:cNvPr id="139" name="PlaceHolder 2"/>
          <p:cNvSpPr>
            <a:spLocks noGrp="1"/>
          </p:cNvSpPr>
          <p:nvPr>
            <p:ph/>
          </p:nvPr>
        </p:nvSpPr>
        <p:spPr>
          <a:xfrm>
            <a:off x="1620000" y="1368000"/>
            <a:ext cx="5007600" cy="3286440"/>
          </a:xfrm>
          <a:prstGeom prst="rect">
            <a:avLst/>
          </a:prstGeom>
          <a:noFill/>
          <a:ln w="0">
            <a:noFill/>
          </a:ln>
        </p:spPr>
        <p:txBody>
          <a:bodyPr lIns="0" rIns="0" tIns="0" bIns="0" anchor="t">
            <a:normAutofit fontScale="93000"/>
          </a:bodyPr>
          <a:p>
            <a:pPr marL="454320" indent="-3405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Designed for ranging</a:t>
            </a:r>
            <a:endParaRPr b="0" lang="en-US" sz="2400" spc="-1" strike="noStrike">
              <a:solidFill>
                <a:srgbClr val="000000"/>
              </a:solidFill>
              <a:latin typeface="Arial"/>
            </a:endParaRPr>
          </a:p>
          <a:p>
            <a:pPr marL="454320" indent="-3405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Initiator gets a bunch of reports:</a:t>
            </a:r>
            <a:endParaRPr b="0" lang="en-US" sz="2400" spc="-1" strike="noStrike">
              <a:solidFill>
                <a:srgbClr val="000000"/>
              </a:solidFill>
              <a:latin typeface="Arial"/>
            </a:endParaRPr>
          </a:p>
          <a:p>
            <a:pPr lvl="1" marL="909000" indent="-34056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T1 – responder sent the request</a:t>
            </a:r>
            <a:endParaRPr b="0" lang="en-US" sz="2100" spc="-1" strike="noStrike">
              <a:solidFill>
                <a:srgbClr val="000000"/>
              </a:solidFill>
              <a:latin typeface="Arial"/>
            </a:endParaRPr>
          </a:p>
          <a:p>
            <a:pPr lvl="1" marL="909000" indent="-34056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T2 – initiator got the request</a:t>
            </a:r>
            <a:endParaRPr b="0" lang="en-US" sz="2100" spc="-1" strike="noStrike">
              <a:solidFill>
                <a:srgbClr val="000000"/>
              </a:solidFill>
              <a:latin typeface="Arial"/>
            </a:endParaRPr>
          </a:p>
          <a:p>
            <a:pPr lvl="1" marL="909000" indent="-34056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T3 – initiator sent the response</a:t>
            </a:r>
            <a:endParaRPr b="0" lang="en-US" sz="2100" spc="-1" strike="noStrike">
              <a:solidFill>
                <a:srgbClr val="000000"/>
              </a:solidFill>
              <a:latin typeface="Arial"/>
            </a:endParaRPr>
          </a:p>
          <a:p>
            <a:pPr lvl="1" marL="909000" indent="-34056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T4 – responder got the response</a:t>
            </a:r>
            <a:endParaRPr b="0" lang="en-US" sz="2100" spc="-1" strike="noStrike">
              <a:solidFill>
                <a:srgbClr val="000000"/>
              </a:solidFill>
              <a:latin typeface="Arial"/>
            </a:endParaRPr>
          </a:p>
          <a:p>
            <a:pPr marL="454320" indent="-3405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T1/T4 – responder’s MAC clock</a:t>
            </a:r>
            <a:endParaRPr b="0" lang="en-US" sz="2400" spc="-1" strike="noStrike">
              <a:solidFill>
                <a:srgbClr val="000000"/>
              </a:solidFill>
              <a:latin typeface="Arial"/>
            </a:endParaRPr>
          </a:p>
          <a:p>
            <a:pPr marL="454320" indent="-3405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T2/T3 – initiator’s MAC clock</a:t>
            </a:r>
            <a:endParaRPr b="0" lang="en-US" sz="2400" spc="-1" strike="noStrike">
              <a:solidFill>
                <a:srgbClr val="000000"/>
              </a:solidFill>
              <a:latin typeface="Arial"/>
            </a:endParaRPr>
          </a:p>
        </p:txBody>
      </p:sp>
      <p:pic>
        <p:nvPicPr>
          <p:cNvPr id="140" name="" descr=""/>
          <p:cNvPicPr/>
          <p:nvPr/>
        </p:nvPicPr>
        <p:blipFill>
          <a:blip r:embed="rId1"/>
          <a:stretch/>
        </p:blipFill>
        <p:spPr>
          <a:xfrm>
            <a:off x="6629400" y="1509480"/>
            <a:ext cx="3177000" cy="3060720"/>
          </a:xfrm>
          <a:prstGeom prst="rect">
            <a:avLst/>
          </a:prstGeom>
          <a:ln w="18000">
            <a:noFill/>
          </a:ln>
        </p:spPr>
      </p:pic>
      <p:sp>
        <p:nvSpPr>
          <p:cNvPr id="141" name=""/>
          <p:cNvSpPr/>
          <p:nvPr/>
        </p:nvSpPr>
        <p:spPr>
          <a:xfrm>
            <a:off x="4572000" y="4800600"/>
            <a:ext cx="5027400" cy="226800"/>
          </a:xfrm>
          <a:prstGeom prst="rect">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gn="r">
              <a:lnSpc>
                <a:spcPct val="100000"/>
              </a:lnSpc>
            </a:pPr>
            <a:r>
              <a:rPr b="0" lang="en-US" sz="1000" spc="-1" strike="noStrike">
                <a:solidFill>
                  <a:srgbClr val="000000"/>
                </a:solidFill>
                <a:latin typeface="Arial"/>
                <a:ea typeface="DejaVu Sans"/>
              </a:rPr>
              <a:t>The diagram is from </a:t>
            </a:r>
            <a:r>
              <a:rPr b="0" lang="en-US" sz="1000" spc="-1" strike="noStrike" u="sng">
                <a:solidFill>
                  <a:srgbClr val="0000ee"/>
                </a:solidFill>
                <a:uFillTx/>
                <a:latin typeface="Arial"/>
                <a:ea typeface="DejaVu Sans"/>
                <a:hlinkClick r:id="rId2"/>
              </a:rPr>
              <a:t>https://www.winlab.rutgers.edu/~gruteser/projects/ftm/index.htm</a:t>
            </a:r>
            <a:r>
              <a:rPr b="0" lang="en-US" sz="1000" spc="-1" strike="noStrike">
                <a:solidFill>
                  <a:srgbClr val="000000"/>
                </a:solidFill>
                <a:latin typeface="Arial"/>
                <a:ea typeface="DejaVu Sans"/>
              </a:rPr>
              <a:t> </a:t>
            </a:r>
            <a:endParaRPr b="0" lang="en-US" sz="1000" spc="-1" strike="noStrike">
              <a:solidFill>
                <a:srgbClr val="000000"/>
              </a:solidFill>
              <a:latin typeface="Arial"/>
            </a:endParaRPr>
          </a:p>
        </p:txBody>
      </p:sp>
      <p:sp>
        <p:nvSpPr>
          <p:cNvPr id="4" name="PlaceHolder 3"/>
          <p:cNvSpPr>
            <a:spLocks noGrp="1"/>
          </p:cNvSpPr>
          <p:nvPr>
            <p:ph type="sldNum" idx="2"/>
          </p:nvPr>
        </p:nvSpPr>
        <p:spPr/>
        <p:txBody>
          <a:bodyPr/>
          <a:p>
            <a:fld id="{F4211E11-33B1-439D-ABDF-2C544A1BBE80}"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2" name="" descr=""/>
          <p:cNvPicPr/>
          <p:nvPr/>
        </p:nvPicPr>
        <p:blipFill>
          <a:blip r:embed="rId1"/>
          <a:stretch/>
        </p:blipFill>
        <p:spPr>
          <a:xfrm>
            <a:off x="2286000" y="388440"/>
            <a:ext cx="6789960" cy="4817160"/>
          </a:xfrm>
          <a:prstGeom prst="rect">
            <a:avLst/>
          </a:prstGeom>
          <a:ln w="0">
            <a:noFill/>
          </a:ln>
        </p:spPr>
      </p:pic>
      <p:sp>
        <p:nvSpPr>
          <p:cNvPr id="2" name="PlaceHolder 1"/>
          <p:cNvSpPr>
            <a:spLocks noGrp="1"/>
          </p:cNvSpPr>
          <p:nvPr>
            <p:ph type="sldNum" idx="2"/>
          </p:nvPr>
        </p:nvSpPr>
        <p:spPr/>
        <p:txBody>
          <a:bodyPr/>
          <a:p>
            <a:fld id="{AD5168ED-0F95-4D4E-90FD-01543301333D}"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3" name="" descr=""/>
          <p:cNvPicPr/>
          <p:nvPr/>
        </p:nvPicPr>
        <p:blipFill>
          <a:blip r:embed="rId1"/>
          <a:stretch/>
        </p:blipFill>
        <p:spPr>
          <a:xfrm>
            <a:off x="2286000" y="457200"/>
            <a:ext cx="6606720" cy="4912200"/>
          </a:xfrm>
          <a:prstGeom prst="rect">
            <a:avLst/>
          </a:prstGeom>
          <a:ln w="0">
            <a:noFill/>
          </a:ln>
        </p:spPr>
      </p:pic>
      <p:sp>
        <p:nvSpPr>
          <p:cNvPr id="2" name="PlaceHolder 1"/>
          <p:cNvSpPr>
            <a:spLocks noGrp="1"/>
          </p:cNvSpPr>
          <p:nvPr>
            <p:ph type="sldNum" idx="2"/>
          </p:nvPr>
        </p:nvSpPr>
        <p:spPr/>
        <p:txBody>
          <a:bodyPr/>
          <a:p>
            <a:fld id="{B67FD5C1-11B5-4C35-A86E-041A968F28B1}"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Disciplined Timer</a:t>
            </a:r>
            <a:endParaRPr b="0" lang="en-US" sz="3300" spc="-1" strike="noStrike">
              <a:solidFill>
                <a:srgbClr val="000000"/>
              </a:solidFill>
              <a:latin typeface="Arial"/>
            </a:endParaRPr>
          </a:p>
        </p:txBody>
      </p:sp>
      <p:sp>
        <p:nvSpPr>
          <p:cNvPr id="145"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75000"/>
          </a:bodyPr>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We need a timer to</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Poll sensors (@2 kHz for my use case)</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Send pulses (for easy quality control with an oscilloscope)</a:t>
            </a:r>
            <a:endParaRPr b="0" lang="en-US" sz="21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GPTimer:</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64bits, up to 40MHz, 25ns period, wide compatibility, </a:t>
            </a:r>
            <a:r>
              <a:rPr b="0" lang="en-US" sz="2100" spc="-1" strike="noStrike">
                <a:solidFill>
                  <a:srgbClr val="c9211e"/>
                </a:solidFill>
                <a:latin typeface="Arial"/>
              </a:rPr>
              <a:t>no GPIO output</a:t>
            </a:r>
            <a:endParaRPr b="0" lang="en-US" sz="21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MCPWM:</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16 bits, up to 160MHz, 8.5ns period,</a:t>
            </a:r>
            <a:r>
              <a:rPr b="0" lang="en-US" sz="2100" spc="-1" strike="noStrike">
                <a:solidFill>
                  <a:srgbClr val="c9211e"/>
                </a:solidFill>
                <a:latin typeface="Arial"/>
              </a:rPr>
              <a:t> limited hw support (not on C3)</a:t>
            </a:r>
            <a:endParaRPr b="0" lang="en-US" sz="21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Go for MCPWM @40MHz:</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25ns resolution, 2kHz TEZ frequency with 16000 period</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GPIO output, but easy to port to GPTimer if pulses are not needed</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F04A9E7A-89B3-4F53-8140-7A58F72167E0}"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Clocks</a:t>
            </a:r>
            <a:endParaRPr b="0" lang="en-US" sz="3300" spc="-1" strike="noStrike">
              <a:solidFill>
                <a:srgbClr val="000000"/>
              </a:solidFill>
              <a:latin typeface="Arial"/>
            </a:endParaRPr>
          </a:p>
        </p:txBody>
      </p:sp>
      <p:sp>
        <p:nvSpPr>
          <p:cNvPr id="147"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82000"/>
          </a:bodyPr>
          <a:p>
            <a:pPr marL="472320" indent="-3542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MAC clock:</a:t>
            </a:r>
            <a:endParaRPr b="0" lang="en-US" sz="2400" spc="-1" strike="noStrike">
              <a:solidFill>
                <a:srgbClr val="000000"/>
              </a:solidFill>
              <a:latin typeface="Arial"/>
            </a:endParaRPr>
          </a:p>
          <a:p>
            <a:pPr lvl="1" marL="944640" indent="-3542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As of March 2025 exposed(*) by API as 32 bits @1us counter </a:t>
            </a:r>
            <a:endParaRPr b="0" lang="en-US" sz="2100" spc="-1" strike="noStrike">
              <a:solidFill>
                <a:srgbClr val="000000"/>
              </a:solidFill>
              <a:latin typeface="Arial"/>
            </a:endParaRPr>
          </a:p>
          <a:p>
            <a:pPr lvl="1" marL="944640" indent="-3542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Must be MSBs of some internal </a:t>
            </a:r>
            <a:r>
              <a:rPr b="0" lang="en-US" sz="2100" spc="-1" strike="noStrike" u="sng">
                <a:solidFill>
                  <a:srgbClr val="050505"/>
                </a:solidFill>
                <a:uFillTx/>
                <a:latin typeface="Arial"/>
              </a:rPr>
              <a:t>high-res MAC clock</a:t>
            </a:r>
            <a:endParaRPr b="0" lang="en-US" sz="2100" spc="-1" strike="noStrike">
              <a:solidFill>
                <a:srgbClr val="000000"/>
              </a:solidFill>
              <a:latin typeface="Arial"/>
            </a:endParaRPr>
          </a:p>
          <a:p>
            <a:pPr lvl="1" marL="944640" indent="-3542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Runs off same oscillator as MCPWM (different resolution, random offset)</a:t>
            </a:r>
            <a:endParaRPr b="0" lang="en-US" sz="2100" spc="-1" strike="noStrike">
              <a:solidFill>
                <a:srgbClr val="000000"/>
              </a:solidFill>
              <a:latin typeface="Arial"/>
            </a:endParaRPr>
          </a:p>
          <a:p>
            <a:pPr marL="472320" indent="-3542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FTM timers: 1ps resolution</a:t>
            </a:r>
            <a:endParaRPr b="0" lang="en-US" sz="2400" spc="-1" strike="noStrike">
              <a:solidFill>
                <a:srgbClr val="000000"/>
              </a:solidFill>
              <a:latin typeface="Arial"/>
            </a:endParaRPr>
          </a:p>
          <a:p>
            <a:pPr lvl="1" marL="944640" indent="-3542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T2/T3 (initiator, local) – 52 bits, sampled off same </a:t>
            </a:r>
            <a:r>
              <a:rPr b="0" lang="en-US" sz="2100" spc="-1" strike="noStrike" u="sng">
                <a:solidFill>
                  <a:srgbClr val="000000"/>
                </a:solidFill>
                <a:uFillTx/>
                <a:latin typeface="Arial"/>
              </a:rPr>
              <a:t>high-res MAC clock</a:t>
            </a:r>
            <a:endParaRPr b="0" lang="en-US" sz="2100" spc="-1" strike="noStrike">
              <a:solidFill>
                <a:srgbClr val="000000"/>
              </a:solidFill>
              <a:latin typeface="Arial"/>
            </a:endParaRPr>
          </a:p>
          <a:p>
            <a:pPr lvl="1" marL="944640" indent="-3542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T1/T4 (responder) – 48 bits, sampled off </a:t>
            </a:r>
            <a:r>
              <a:rPr b="0" lang="en-US" sz="2100" spc="-1" strike="noStrike" u="sng">
                <a:solidFill>
                  <a:srgbClr val="050505"/>
                </a:solidFill>
                <a:uFillTx/>
                <a:latin typeface="Arial"/>
              </a:rPr>
              <a:t>remote</a:t>
            </a:r>
            <a:r>
              <a:rPr b="0" lang="en-US" sz="2100" spc="-1" strike="noStrike">
                <a:solidFill>
                  <a:srgbClr val="050505"/>
                </a:solidFill>
                <a:latin typeface="Arial"/>
              </a:rPr>
              <a:t> high-res MAC clock</a:t>
            </a:r>
            <a:endParaRPr b="0" lang="en-US" sz="2100" spc="-1" strike="noStrike">
              <a:solidFill>
                <a:srgbClr val="000000"/>
              </a:solidFill>
              <a:latin typeface="Arial"/>
            </a:endParaRPr>
          </a:p>
          <a:p>
            <a:pPr marL="472320" indent="-3542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MAC clock of the master = the master clock</a:t>
            </a:r>
            <a:endParaRPr b="0" lang="en-US" sz="2400" spc="-1" strike="noStrike">
              <a:solidFill>
                <a:srgbClr val="000000"/>
              </a:solidFill>
              <a:latin typeface="Arial"/>
            </a:endParaRPr>
          </a:p>
          <a:p>
            <a:pPr marL="472320" indent="-3542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Cycle Counter = floor(master clock / TIMER_PERIOD)</a:t>
            </a:r>
            <a:endParaRPr b="0" lang="en-US" sz="2400" spc="-1" strike="noStrike">
              <a:solidFill>
                <a:srgbClr val="000000"/>
              </a:solidFill>
              <a:latin typeface="Arial"/>
            </a:endParaRPr>
          </a:p>
        </p:txBody>
      </p:sp>
      <p:sp>
        <p:nvSpPr>
          <p:cNvPr id="148" name=""/>
          <p:cNvSpPr/>
          <p:nvPr/>
        </p:nvSpPr>
        <p:spPr>
          <a:xfrm>
            <a:off x="1600200" y="5029200"/>
            <a:ext cx="7542000" cy="455400"/>
          </a:xfrm>
          <a:prstGeom prst="rect">
            <a:avLst/>
          </a:prstGeom>
          <a:solidFill>
            <a:srgbClr val="dee6ef"/>
          </a:solidFill>
          <a:ln w="18000">
            <a:solidFill>
              <a:srgbClr val="2a6099"/>
            </a:solidFill>
            <a:round/>
          </a:ln>
        </p:spPr>
        <p:style>
          <a:lnRef idx="0"/>
          <a:fillRef idx="0"/>
          <a:effectRef idx="0"/>
          <a:fontRef idx="minor"/>
        </p:style>
        <p:txBody>
          <a:bodyPr lIns="90000" rIns="90000" tIns="45000" bIns="45000" anchor="ctr">
            <a:noAutofit/>
          </a:bodyPr>
          <a:p>
            <a:pPr algn="ctr">
              <a:lnSpc>
                <a:spcPct val="100000"/>
              </a:lnSpc>
            </a:pPr>
            <a:r>
              <a:rPr b="0" lang="en-US" sz="1000" spc="-1" strike="noStrike">
                <a:solidFill>
                  <a:srgbClr val="000000"/>
                </a:solidFill>
                <a:latin typeface="Arial"/>
                <a:ea typeface="DejaVu Sans"/>
              </a:rPr>
              <a:t>(*)  esp_wifi_internal_get_mac_clock_time(), see </a:t>
            </a:r>
            <a:r>
              <a:rPr b="0" lang="en-US" sz="1000" spc="-1" strike="noStrike" u="sng">
                <a:solidFill>
                  <a:srgbClr val="0000ee"/>
                </a:solidFill>
                <a:uFillTx/>
                <a:latin typeface="Arial"/>
                <a:ea typeface="DejaVu Sans"/>
                <a:hlinkClick r:id="rId1"/>
              </a:rPr>
              <a:t>https://github.com/espressif/esp-idf/issues/15348</a:t>
            </a:r>
            <a:r>
              <a:rPr b="0" lang="en-US" sz="1000" spc="-1" strike="noStrike">
                <a:solidFill>
                  <a:srgbClr val="000000"/>
                </a:solidFill>
                <a:latin typeface="Arial"/>
                <a:ea typeface="DejaVu Sans"/>
              </a:rPr>
              <a:t>. Also seen in beacons/TSF (1us resolution) and timestamps of sniffed packets: 1us (or 1ns with </a:t>
            </a:r>
            <a:r>
              <a:rPr b="0" lang="en-US" sz="1000" spc="-1" strike="noStrike" u="sng">
                <a:solidFill>
                  <a:srgbClr val="0000ee"/>
                </a:solidFill>
                <a:uFillTx/>
                <a:latin typeface="Arial"/>
                <a:ea typeface="DejaVu Sans"/>
                <a:hlinkClick r:id="rId2"/>
              </a:rPr>
              <a:t>https://github.com/espressif/esp-idf/issues/9843</a:t>
            </a:r>
            <a:r>
              <a:rPr b="0" lang="en-US" sz="1000" spc="-1" strike="noStrike">
                <a:solidFill>
                  <a:srgbClr val="000000"/>
                </a:solidFill>
                <a:latin typeface="Arial"/>
                <a:ea typeface="DejaVu Sans"/>
              </a:rPr>
              <a:t> patch)</a:t>
            </a:r>
            <a:endParaRPr b="0" lang="en-US" sz="1000" spc="-1" strike="noStrike">
              <a:solidFill>
                <a:srgbClr val="000000"/>
              </a:solidFill>
              <a:latin typeface="Arial"/>
            </a:endParaRPr>
          </a:p>
        </p:txBody>
      </p:sp>
      <p:sp>
        <p:nvSpPr>
          <p:cNvPr id="4" name="PlaceHolder 3"/>
          <p:cNvSpPr>
            <a:spLocks noGrp="1"/>
          </p:cNvSpPr>
          <p:nvPr>
            <p:ph type="sldNum" idx="2"/>
          </p:nvPr>
        </p:nvSpPr>
        <p:spPr/>
        <p:txBody>
          <a:bodyPr/>
          <a:p>
            <a:fld id="{9DD52DC8-AACD-409F-807F-7012546646AB}"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Robust Local Clock</a:t>
            </a:r>
            <a:endParaRPr b="0" lang="en-US" sz="3300" spc="-1" strike="noStrike">
              <a:solidFill>
                <a:srgbClr val="000000"/>
              </a:solidFill>
              <a:latin typeface="Arial"/>
            </a:endParaRPr>
          </a:p>
        </p:txBody>
      </p:sp>
      <p:sp>
        <p:nvSpPr>
          <p:cNvPr id="150"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72000"/>
          </a:bodyPr>
          <a:p>
            <a:pPr marL="527760" indent="-396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Track overflows of MAC clock</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a:solidFill>
                  <a:srgbClr val="050505"/>
                </a:solidFill>
                <a:latin typeface="Arial"/>
              </a:rPr>
              <a:t>32 bits @1us  (wrap period 2^32)</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a:solidFill>
                  <a:srgbClr val="050505"/>
                </a:solidFill>
                <a:latin typeface="Arial"/>
              </a:rPr>
              <a:t>=&gt; </a:t>
            </a:r>
            <a:r>
              <a:rPr b="1" lang="en-US" sz="2400" spc="-1" strike="noStrike">
                <a:solidFill>
                  <a:srgbClr val="050505"/>
                </a:solidFill>
                <a:latin typeface="Arial"/>
              </a:rPr>
              <a:t>mac_clock_us</a:t>
            </a:r>
            <a:endParaRPr b="0" lang="en-US" sz="2400" spc="-1" strike="noStrike">
              <a:solidFill>
                <a:srgbClr val="000000"/>
              </a:solidFill>
              <a:latin typeface="Arial"/>
            </a:endParaRPr>
          </a:p>
          <a:p>
            <a:pPr marL="527760" indent="-396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The disciplined timer (MCPWM, ticks at 25ns)</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a:solidFill>
                  <a:srgbClr val="050505"/>
                </a:solidFill>
                <a:latin typeface="Arial"/>
              </a:rPr>
              <a:t>Clocked off same oscillator as MAC clock</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u="sng">
                <a:solidFill>
                  <a:srgbClr val="050505"/>
                </a:solidFill>
                <a:uFillTx/>
                <a:latin typeface="Arial"/>
              </a:rPr>
              <a:t>Track all ticks and overflows, but never mess with tick counts</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a:solidFill>
                  <a:srgbClr val="050505"/>
                </a:solidFill>
                <a:latin typeface="Arial"/>
              </a:rPr>
              <a:t>Ok to adjust period to alter phase and frequency of TEZ</a:t>
            </a:r>
            <a:endParaRPr b="0" lang="en-US" sz="2400" spc="-1" strike="noStrike">
              <a:solidFill>
                <a:srgbClr val="000000"/>
              </a:solidFill>
              <a:latin typeface="Arial"/>
            </a:endParaRPr>
          </a:p>
          <a:p>
            <a:pPr marL="527760" indent="-396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Sample MAC clock edges against the disciplined timer</a:t>
            </a:r>
            <a:endParaRPr b="0" lang="en-US" sz="2400" spc="-1" strike="noStrike">
              <a:solidFill>
                <a:srgbClr val="000000"/>
              </a:solidFill>
              <a:latin typeface="Arial"/>
            </a:endParaRPr>
          </a:p>
          <a:p>
            <a:pPr lvl="1" marL="1056240" indent="-396000">
              <a:lnSpc>
                <a:spcPct val="100000"/>
              </a:lnSpc>
              <a:spcAft>
                <a:spcPts val="848"/>
              </a:spcAft>
              <a:buClr>
                <a:srgbClr val="000000"/>
              </a:buClr>
              <a:buSzPct val="40000"/>
              <a:buFont typeface="Wingdings" charset="2"/>
              <a:buChar char=""/>
            </a:pPr>
            <a:r>
              <a:rPr b="0" lang="en-US" sz="2400" spc="-1" strike="noStrike">
                <a:solidFill>
                  <a:srgbClr val="050505"/>
                </a:solidFill>
                <a:latin typeface="Arial"/>
              </a:rPr>
              <a:t>=&gt;</a:t>
            </a:r>
            <a:r>
              <a:rPr b="1" lang="en-US" sz="2400" spc="-1" strike="noStrike">
                <a:solidFill>
                  <a:srgbClr val="050505"/>
                </a:solidFill>
                <a:latin typeface="Arial"/>
              </a:rPr>
              <a:t> mac_clock_at_timer_start_ns</a:t>
            </a:r>
            <a:endParaRPr b="0" lang="en-US" sz="2400" spc="-1" strike="noStrike">
              <a:solidFill>
                <a:srgbClr val="000000"/>
              </a:solidFill>
              <a:latin typeface="Arial"/>
            </a:endParaRPr>
          </a:p>
          <a:p>
            <a:pPr marL="527760" indent="-396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The disciplined timer becomes </a:t>
            </a:r>
            <a:r>
              <a:rPr b="0" lang="en-US" sz="2400" spc="-1" strike="noStrike" u="sng">
                <a:solidFill>
                  <a:srgbClr val="050505"/>
                </a:solidFill>
                <a:uFillTx/>
                <a:latin typeface="Arial"/>
              </a:rPr>
              <a:t>local MAC clock with 25ns resolution!</a:t>
            </a:r>
            <a:endParaRPr b="0" lang="en-US" sz="2400" spc="-1" strike="noStrike">
              <a:solidFill>
                <a:srgbClr val="000000"/>
              </a:solidFill>
              <a:latin typeface="Arial"/>
            </a:endParaRPr>
          </a:p>
        </p:txBody>
      </p:sp>
      <p:sp>
        <p:nvSpPr>
          <p:cNvPr id="4" name="PlaceHolder 3"/>
          <p:cNvSpPr>
            <a:spLocks noGrp="1"/>
          </p:cNvSpPr>
          <p:nvPr>
            <p:ph type="sldNum" idx="2"/>
          </p:nvPr>
        </p:nvSpPr>
        <p:spPr/>
        <p:txBody>
          <a:bodyPr/>
          <a:p>
            <a:fld id="{B4F8B871-6B27-485C-BD53-98C05564C11D}"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Architecture</a:t>
            </a:r>
            <a:endParaRPr b="0" lang="en-US" sz="3300" spc="-1" strike="noStrike">
              <a:solidFill>
                <a:srgbClr val="000000"/>
              </a:solidFill>
              <a:latin typeface="Arial"/>
            </a:endParaRPr>
          </a:p>
        </p:txBody>
      </p:sp>
      <p:sp>
        <p:nvSpPr>
          <p:cNvPr id="152"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68000"/>
          </a:bodyPr>
          <a:p>
            <a:pPr marL="523080" indent="-3924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FTM: Fine Time Measurement</a:t>
            </a:r>
            <a:endParaRPr b="0" lang="en-US" sz="24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Initialize Wifi</a:t>
            </a:r>
            <a:endParaRPr b="0" lang="en-US" sz="21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Initiate and collect FTM measurements</a:t>
            </a:r>
            <a:endParaRPr b="0" lang="en-US" sz="2100" spc="-1" strike="noStrike">
              <a:solidFill>
                <a:srgbClr val="000000"/>
              </a:solidFill>
              <a:latin typeface="Arial"/>
            </a:endParaRPr>
          </a:p>
          <a:p>
            <a:pPr marL="523080" indent="-3924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CRM: Clock Relationship Model</a:t>
            </a:r>
            <a:endParaRPr b="0" lang="en-US" sz="24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Model master clock with linear regression, kind of:</a:t>
            </a:r>
            <a:endParaRPr b="0" lang="en-US" sz="2100" spc="-1" strike="noStrike">
              <a:solidFill>
                <a:srgbClr val="000000"/>
              </a:solidFill>
              <a:latin typeface="Arial"/>
            </a:endParaRPr>
          </a:p>
          <a:p>
            <a:pPr marL="1046880" indent="0">
              <a:lnSpc>
                <a:spcPct val="100000"/>
              </a:lnSpc>
              <a:spcAft>
                <a:spcPts val="848"/>
              </a:spcAft>
              <a:buNone/>
              <a:tabLst>
                <a:tab algn="l" pos="0"/>
              </a:tabLst>
            </a:pPr>
            <a:r>
              <a:rPr b="0" lang="en-US" sz="2100" spc="-1" strike="noStrike">
                <a:solidFill>
                  <a:srgbClr val="050505"/>
                </a:solidFill>
                <a:highlight>
                  <a:srgbClr val="dde8cb"/>
                </a:highlight>
                <a:latin typeface="Arial"/>
              </a:rPr>
              <a:t>master_time = slope * local_time + intercept</a:t>
            </a:r>
            <a:endParaRPr b="0" lang="en-US" sz="2100" spc="-1" strike="noStrike">
              <a:solidFill>
                <a:srgbClr val="000000"/>
              </a:solidFill>
              <a:latin typeface="Arial"/>
            </a:endParaRPr>
          </a:p>
          <a:p>
            <a:pPr marL="523080" indent="-3924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DTC: Disciplined Timer Controller</a:t>
            </a:r>
            <a:endParaRPr b="0" lang="en-US" sz="24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Handle CRM updates, produce timer alignment instructions</a:t>
            </a:r>
            <a:endParaRPr b="0" lang="en-US" sz="2100" spc="-1" strike="noStrike">
              <a:solidFill>
                <a:srgbClr val="000000"/>
              </a:solidFill>
              <a:latin typeface="Arial"/>
            </a:endParaRPr>
          </a:p>
          <a:p>
            <a:pPr marL="523080" indent="-3924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DTR: Disciplined Timer Realtime</a:t>
            </a:r>
            <a:endParaRPr b="0" lang="en-US" sz="24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TEZ handler: consume alignment instructions from DTC, adjust period &amp; phase</a:t>
            </a:r>
            <a:endParaRPr b="0" lang="en-US" sz="2100" spc="-1" strike="noStrike">
              <a:solidFill>
                <a:srgbClr val="000000"/>
              </a:solidFill>
              <a:latin typeface="Arial"/>
            </a:endParaRPr>
          </a:p>
          <a:p>
            <a:pPr lvl="1" marL="1046880" indent="-3924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Pulse GPIO, invoke application callback (i.e. for trigger sensor sampling)</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044B0101-2308-43AA-BAD5-CD22A3F00BB5}"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ubTitle"/>
          </p:nvPr>
        </p:nvSpPr>
        <p:spPr>
          <a:xfrm>
            <a:off x="1620000" y="216000"/>
            <a:ext cx="8098200" cy="4338360"/>
          </a:xfrm>
          <a:prstGeom prst="rect">
            <a:avLst/>
          </a:prstGeom>
          <a:noFill/>
          <a:ln w="0">
            <a:noFill/>
          </a:ln>
        </p:spPr>
        <p:txBody>
          <a:bodyPr lIns="0" rIns="0" tIns="0" bIns="0" anchor="ctr">
            <a:noAutofit/>
          </a:bodyPr>
          <a:p>
            <a:pPr algn="ctr">
              <a:lnSpc>
                <a:spcPct val="100000"/>
              </a:lnSpc>
            </a:pPr>
            <a:endParaRPr b="0" lang="en-US" sz="3200" spc="-1" strike="noStrike">
              <a:solidFill>
                <a:srgbClr val="000000"/>
              </a:solidFill>
              <a:latin typeface="Arial"/>
            </a:endParaRPr>
          </a:p>
          <a:p>
            <a:pPr algn="ctr">
              <a:lnSpc>
                <a:spcPct val="100000"/>
              </a:lnSpc>
            </a:pPr>
            <a:endParaRPr b="0" lang="en-US" sz="3200" spc="-1" strike="noStrike">
              <a:solidFill>
                <a:srgbClr val="000000"/>
              </a:solidFill>
              <a:latin typeface="Arial"/>
            </a:endParaRPr>
          </a:p>
          <a:p>
            <a:pPr algn="ctr">
              <a:lnSpc>
                <a:spcPct val="100000"/>
              </a:lnSpc>
            </a:pPr>
            <a:r>
              <a:rPr b="1" lang="en-US" sz="3200" spc="-1" strike="noStrike">
                <a:solidFill>
                  <a:srgbClr val="000000"/>
                </a:solidFill>
                <a:latin typeface="Times New Roman"/>
              </a:rPr>
              <a:t>FTM</a:t>
            </a:r>
            <a:r>
              <a:rPr b="0" lang="en-US" sz="3200" spc="-1" strike="noStrike">
                <a:solidFill>
                  <a:srgbClr val="000000"/>
                </a:solidFill>
                <a:latin typeface="Times New Roman"/>
              </a:rPr>
              <a:t> → CRM →  DTC ↔ DTR</a:t>
            </a:r>
            <a:endParaRPr b="0" lang="en-US" sz="3200" spc="-1" strike="noStrike">
              <a:solidFill>
                <a:srgbClr val="000000"/>
              </a:solidFill>
              <a:latin typeface="Arial"/>
            </a:endParaRPr>
          </a:p>
          <a:p>
            <a:pPr algn="ctr">
              <a:lnSpc>
                <a:spcPct val="100000"/>
              </a:lnSpc>
            </a:pPr>
            <a:endParaRPr b="0" lang="en-US" sz="3200" spc="-1" strike="noStrike">
              <a:solidFill>
                <a:srgbClr val="000000"/>
              </a:solidFill>
              <a:latin typeface="Arial"/>
            </a:endParaRPr>
          </a:p>
          <a:p>
            <a:pPr algn="ctr">
              <a:lnSpc>
                <a:spcPct val="100000"/>
              </a:lnSpc>
            </a:pPr>
            <a:endParaRPr b="0" lang="en-US" sz="3200" spc="-1" strike="noStrike">
              <a:solidFill>
                <a:srgbClr val="000000"/>
              </a:solidFill>
              <a:latin typeface="Arial"/>
            </a:endParaRPr>
          </a:p>
          <a:p>
            <a:pPr algn="ctr">
              <a:lnSpc>
                <a:spcPct val="100000"/>
              </a:lnSpc>
            </a:pPr>
            <a:r>
              <a:rPr b="0" lang="en-US" sz="2400" spc="-1" strike="noStrike">
                <a:solidFill>
                  <a:srgbClr val="000000"/>
                </a:solidFill>
                <a:latin typeface="Times New Roman"/>
              </a:rPr>
              <a:t>(Legend: </a:t>
            </a:r>
            <a:r>
              <a:rPr b="1" lang="en-US" sz="2400" spc="-1" strike="noStrike">
                <a:solidFill>
                  <a:srgbClr val="ffbf00"/>
                </a:solidFill>
                <a:latin typeface="Times New Roman"/>
              </a:rPr>
              <a:t>in</a:t>
            </a:r>
            <a:r>
              <a:rPr b="0" lang="en-US" sz="2400" spc="-1" strike="noStrike">
                <a:solidFill>
                  <a:srgbClr val="000000"/>
                </a:solidFill>
                <a:latin typeface="Times New Roman"/>
              </a:rPr>
              <a:t>, </a:t>
            </a:r>
            <a:r>
              <a:rPr b="1" lang="en-US" sz="2400" spc="-1" strike="noStrike">
                <a:solidFill>
                  <a:srgbClr val="168253"/>
                </a:solidFill>
                <a:latin typeface="Times New Roman"/>
              </a:rPr>
              <a:t>out</a:t>
            </a:r>
            <a:r>
              <a:rPr b="1" lang="en-US" sz="2400" spc="-1" strike="noStrike">
                <a:solidFill>
                  <a:srgbClr val="000000"/>
                </a:solidFill>
                <a:latin typeface="Times New Roman"/>
              </a:rPr>
              <a:t>)</a:t>
            </a:r>
            <a:endParaRPr b="0" lang="en-US" sz="2400" spc="-1" strike="noStrike">
              <a:solidFill>
                <a:srgbClr val="000000"/>
              </a:solidFill>
              <a:latin typeface="Arial"/>
            </a:endParaRPr>
          </a:p>
        </p:txBody>
      </p:sp>
      <p:sp>
        <p:nvSpPr>
          <p:cNvPr id="3" name="PlaceHolder 2"/>
          <p:cNvSpPr>
            <a:spLocks noGrp="1"/>
          </p:cNvSpPr>
          <p:nvPr>
            <p:ph type="sldNum" idx="2"/>
          </p:nvPr>
        </p:nvSpPr>
        <p:spPr/>
        <p:txBody>
          <a:bodyPr/>
          <a:p>
            <a:fld id="{74171E71-6DE3-4CF0-957F-72885A62D9A9}"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FTM</a:t>
            </a:r>
            <a:endParaRPr b="0" lang="en-US" sz="3300" spc="-1" strike="noStrike">
              <a:solidFill>
                <a:srgbClr val="000000"/>
              </a:solidFill>
              <a:latin typeface="Arial"/>
            </a:endParaRPr>
          </a:p>
        </p:txBody>
      </p:sp>
      <p:sp>
        <p:nvSpPr>
          <p:cNvPr id="155"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68000"/>
          </a:bodyPr>
          <a:p>
            <a:pPr marL="471960" indent="-3538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Initiates FTM sessions every 1s</a:t>
            </a:r>
            <a:endParaRPr b="0" lang="en-US" sz="2400" spc="-1" strike="noStrike">
              <a:solidFill>
                <a:srgbClr val="000000"/>
              </a:solidFill>
              <a:latin typeface="Arial"/>
            </a:endParaRPr>
          </a:p>
          <a:p>
            <a:pPr marL="471960" indent="-3538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FTM session = 32 reports, each report = 4 timers: </a:t>
            </a:r>
            <a:r>
              <a:rPr b="1" lang="en-US" sz="2400" spc="-1" strike="noStrike">
                <a:solidFill>
                  <a:srgbClr val="ffbf00"/>
                </a:solidFill>
                <a:latin typeface="Arial"/>
              </a:rPr>
              <a:t>T1, T2, T3, T4</a:t>
            </a:r>
            <a:endParaRPr b="0" lang="en-US" sz="2400" spc="-1" strike="noStrike">
              <a:solidFill>
                <a:srgbClr val="000000"/>
              </a:solidFill>
              <a:latin typeface="Arial"/>
            </a:endParaRPr>
          </a:p>
          <a:p>
            <a:pPr marL="471960" indent="-3538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Tracks wraps and unwraps (a separate story): 4x 64bit @1ps T-counters</a:t>
            </a:r>
            <a:endParaRPr b="0" lang="en-US" sz="2400" spc="-1" strike="noStrike">
              <a:solidFill>
                <a:srgbClr val="000000"/>
              </a:solidFill>
              <a:latin typeface="Arial"/>
            </a:endParaRPr>
          </a:p>
          <a:p>
            <a:pPr marL="471960" indent="-353880">
              <a:lnSpc>
                <a:spcPct val="100000"/>
              </a:lnSpc>
              <a:spcBef>
                <a:spcPts val="1191"/>
              </a:spcBef>
              <a:spcAft>
                <a:spcPts val="992"/>
              </a:spcAft>
              <a:buClr>
                <a:srgbClr val="000000"/>
              </a:buClr>
              <a:buSzPct val="40000"/>
              <a:buFont typeface="Wingdings" charset="2"/>
              <a:buChar char=""/>
            </a:pPr>
            <a:r>
              <a:rPr b="0" lang="en-US" sz="2400" spc="-1" strike="noStrike">
                <a:solidFill>
                  <a:srgbClr val="050505"/>
                </a:solidFill>
                <a:latin typeface="Arial"/>
              </a:rPr>
              <a:t>RTT = (t4 - t1) - (t3 – t2)</a:t>
            </a:r>
            <a:endParaRPr b="0" lang="en-US" sz="2400" spc="-1" strike="noStrike">
              <a:solidFill>
                <a:srgbClr val="000000"/>
              </a:solidFill>
              <a:latin typeface="Arial"/>
            </a:endParaRPr>
          </a:p>
          <a:p>
            <a:pPr marL="471960" indent="-353880">
              <a:lnSpc>
                <a:spcPct val="100000"/>
              </a:lnSpc>
              <a:spcBef>
                <a:spcPts val="1191"/>
              </a:spcBef>
              <a:spcAft>
                <a:spcPts val="992"/>
              </a:spcAft>
              <a:buClr>
                <a:srgbClr val="000000"/>
              </a:buClr>
              <a:buSzPct val="40000"/>
              <a:buFont typeface="Wingdings" charset="2"/>
              <a:buChar char=""/>
            </a:pPr>
            <a:r>
              <a:rPr b="0" lang="en-US" sz="2400" spc="-1" strike="noStrike">
                <a:solidFill>
                  <a:srgbClr val="000000"/>
                </a:solidFill>
                <a:latin typeface="Arial"/>
              </a:rPr>
              <a:t>Local ref time:</a:t>
            </a:r>
            <a:endParaRPr b="0" lang="en-US" sz="2400" spc="-1" strike="noStrike">
              <a:solidFill>
                <a:srgbClr val="000000"/>
              </a:solidFill>
              <a:latin typeface="Arial"/>
            </a:endParaRPr>
          </a:p>
          <a:p>
            <a:pPr lvl="1" marL="943920" indent="-353880">
              <a:lnSpc>
                <a:spcPct val="100000"/>
              </a:lnSpc>
              <a:spcAft>
                <a:spcPts val="848"/>
              </a:spcAft>
              <a:buClr>
                <a:srgbClr val="000000"/>
              </a:buClr>
              <a:buSzPct val="40000"/>
              <a:buFont typeface="Wingdings" charset="2"/>
              <a:buChar char=""/>
            </a:pPr>
            <a:r>
              <a:rPr b="1" lang="en-US" sz="2400" spc="-1" strike="noStrike">
                <a:solidFill>
                  <a:srgbClr val="000000"/>
                </a:solidFill>
                <a:latin typeface="Arial"/>
              </a:rPr>
              <a:t>t2_unwrapped_ps</a:t>
            </a:r>
            <a:endParaRPr b="0" lang="en-US" sz="2400" spc="-1" strike="noStrike">
              <a:solidFill>
                <a:srgbClr val="000000"/>
              </a:solidFill>
              <a:latin typeface="Arial"/>
            </a:endParaRPr>
          </a:p>
          <a:p>
            <a:pPr marL="471960" indent="-353880">
              <a:lnSpc>
                <a:spcPct val="100000"/>
              </a:lnSpc>
              <a:spcBef>
                <a:spcPts val="1191"/>
              </a:spcBef>
              <a:spcAft>
                <a:spcPts val="992"/>
              </a:spcAft>
              <a:buClr>
                <a:srgbClr val="000000"/>
              </a:buClr>
              <a:buSzPct val="40000"/>
              <a:buFont typeface="Wingdings" charset="2"/>
              <a:buChar char=""/>
            </a:pPr>
            <a:r>
              <a:rPr b="0" lang="en-US" sz="2400" spc="-1" strike="noStrike">
                <a:solidFill>
                  <a:srgbClr val="000000"/>
                </a:solidFill>
                <a:latin typeface="Arial"/>
              </a:rPr>
              <a:t>Corresponding remote time (assuming symmetric link):</a:t>
            </a:r>
            <a:endParaRPr b="0" lang="en-US" sz="2400" spc="-1" strike="noStrike">
              <a:solidFill>
                <a:srgbClr val="000000"/>
              </a:solidFill>
              <a:latin typeface="Arial"/>
            </a:endParaRPr>
          </a:p>
          <a:p>
            <a:pPr marL="943920" indent="0">
              <a:lnSpc>
                <a:spcPct val="100000"/>
              </a:lnSpc>
              <a:spcAft>
                <a:spcPts val="848"/>
              </a:spcAft>
              <a:buNone/>
              <a:tabLst>
                <a:tab algn="l" pos="0"/>
              </a:tabLst>
            </a:pPr>
            <a:r>
              <a:rPr b="1" lang="en-US" sz="2400" spc="-1" strike="noStrike">
                <a:solidFill>
                  <a:srgbClr val="000000"/>
                </a:solidFill>
                <a:latin typeface="Arial"/>
              </a:rPr>
              <a:t>t1_unwrapped_ps + rtt/2</a:t>
            </a:r>
            <a:endParaRPr b="0" lang="en-US" sz="2400" spc="-1" strike="noStrike">
              <a:solidFill>
                <a:srgbClr val="000000"/>
              </a:solidFill>
              <a:latin typeface="Arial"/>
            </a:endParaRPr>
          </a:p>
          <a:p>
            <a:pPr marL="471960" indent="-353880">
              <a:lnSpc>
                <a:spcPct val="100000"/>
              </a:lnSpc>
              <a:spcBef>
                <a:spcPts val="1191"/>
              </a:spcBef>
              <a:spcAft>
                <a:spcPts val="992"/>
              </a:spcAft>
              <a:buClr>
                <a:srgbClr val="000000"/>
              </a:buClr>
              <a:buSzPct val="40000"/>
              <a:buFont typeface="Wingdings" charset="2"/>
              <a:buChar char=""/>
              <a:tabLst>
                <a:tab algn="l" pos="0"/>
              </a:tabLst>
            </a:pPr>
            <a:r>
              <a:rPr b="0" lang="en-US" sz="2400" spc="-1" strike="noStrike">
                <a:solidFill>
                  <a:srgbClr val="050505"/>
                </a:solidFill>
                <a:latin typeface="Arial"/>
              </a:rPr>
              <a:t>Feed the list of (</a:t>
            </a:r>
            <a:r>
              <a:rPr b="1" lang="en-US" sz="2400" spc="-1" strike="noStrike">
                <a:solidFill>
                  <a:srgbClr val="168253"/>
                </a:solidFill>
                <a:latin typeface="Arial"/>
              </a:rPr>
              <a:t>local_ps, remote_ps</a:t>
            </a:r>
            <a:r>
              <a:rPr b="0" lang="en-US" sz="2400" spc="-1" strike="noStrike">
                <a:solidFill>
                  <a:srgbClr val="050505"/>
                </a:solidFill>
                <a:latin typeface="Arial"/>
              </a:rPr>
              <a:t>) to CRM module</a:t>
            </a:r>
            <a:endParaRPr b="0" lang="en-US" sz="2400" spc="-1" strike="noStrike">
              <a:solidFill>
                <a:srgbClr val="000000"/>
              </a:solidFill>
              <a:latin typeface="Arial"/>
            </a:endParaRPr>
          </a:p>
        </p:txBody>
      </p:sp>
      <p:pic>
        <p:nvPicPr>
          <p:cNvPr id="156" name="" descr=""/>
          <p:cNvPicPr/>
          <p:nvPr/>
        </p:nvPicPr>
        <p:blipFill>
          <a:blip r:embed="rId1"/>
          <a:stretch/>
        </p:blipFill>
        <p:spPr>
          <a:xfrm>
            <a:off x="7315200" y="2598480"/>
            <a:ext cx="2134080" cy="2055960"/>
          </a:xfrm>
          <a:prstGeom prst="rect">
            <a:avLst/>
          </a:prstGeom>
          <a:ln w="18000">
            <a:noFill/>
          </a:ln>
        </p:spPr>
      </p:pic>
      <p:sp>
        <p:nvSpPr>
          <p:cNvPr id="4" name="PlaceHolder 3"/>
          <p:cNvSpPr>
            <a:spLocks noGrp="1"/>
          </p:cNvSpPr>
          <p:nvPr>
            <p:ph type="sldNum" idx="2"/>
          </p:nvPr>
        </p:nvSpPr>
        <p:spPr/>
        <p:txBody>
          <a:bodyPr/>
          <a:p>
            <a:fld id="{E28EE455-49B8-4C74-83D7-5AFDDF59964D}"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ubTitle"/>
          </p:nvPr>
        </p:nvSpPr>
        <p:spPr>
          <a:xfrm>
            <a:off x="1620000" y="216000"/>
            <a:ext cx="8098200" cy="4338360"/>
          </a:xfrm>
          <a:prstGeom prst="rect">
            <a:avLst/>
          </a:prstGeom>
          <a:noFill/>
          <a:ln w="0">
            <a:noFill/>
          </a:ln>
        </p:spPr>
        <p:txBody>
          <a:bodyPr lIns="0" rIns="0" tIns="0" bIns="0" anchor="ctr">
            <a:noAutofit/>
          </a:bodyPr>
          <a:p>
            <a:pPr algn="ctr">
              <a:lnSpc>
                <a:spcPct val="100000"/>
              </a:lnSpc>
            </a:pPr>
            <a:r>
              <a:rPr b="0" lang="en-US" sz="3200" spc="-1" strike="noStrike">
                <a:solidFill>
                  <a:srgbClr val="000000"/>
                </a:solidFill>
                <a:latin typeface="Times New Roman"/>
              </a:rPr>
              <a:t>FTM → </a:t>
            </a:r>
            <a:r>
              <a:rPr b="1" lang="en-US" sz="3200" spc="-1" strike="noStrike">
                <a:solidFill>
                  <a:srgbClr val="000000"/>
                </a:solidFill>
                <a:latin typeface="Times New Roman"/>
              </a:rPr>
              <a:t>CRM</a:t>
            </a:r>
            <a:r>
              <a:rPr b="0" lang="en-US" sz="3200" spc="-1" strike="noStrike">
                <a:solidFill>
                  <a:srgbClr val="000000"/>
                </a:solidFill>
                <a:latin typeface="Times New Roman"/>
              </a:rPr>
              <a:t> → DTC ↔ DTR</a:t>
            </a: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11FD8C0E-FA07-4163-AFE7-E288C3D6821C}"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CRM: Clock Relationship Model</a:t>
            </a:r>
            <a:endParaRPr b="0" lang="en-US" sz="3300" spc="-1" strike="noStrike">
              <a:solidFill>
                <a:srgbClr val="000000"/>
              </a:solidFill>
              <a:latin typeface="Arial"/>
            </a:endParaRPr>
          </a:p>
        </p:txBody>
      </p:sp>
      <p:sp>
        <p:nvSpPr>
          <p:cNvPr id="159"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67000"/>
          </a:bodyPr>
          <a:p>
            <a:pPr marL="515520" indent="-3866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Maintains a ring buffer of 100x recent FTM reports (</a:t>
            </a:r>
            <a:r>
              <a:rPr b="1" lang="en-US" sz="2400" spc="-1" strike="noStrike">
                <a:solidFill>
                  <a:srgbClr val="ffbf00"/>
                </a:solidFill>
                <a:latin typeface="Arial"/>
              </a:rPr>
              <a:t>local_ps, remote_ps</a:t>
            </a:r>
            <a:r>
              <a:rPr b="0" lang="en-US" sz="2400" spc="-1" strike="noStrike">
                <a:solidFill>
                  <a:srgbClr val="050505"/>
                </a:solidFill>
                <a:latin typeface="Arial"/>
              </a:rPr>
              <a:t> pairs)</a:t>
            </a:r>
            <a:endParaRPr b="0" lang="en-US" sz="2400" spc="-1" strike="noStrike">
              <a:solidFill>
                <a:srgbClr val="000000"/>
              </a:solidFill>
              <a:latin typeface="Arial"/>
            </a:endParaRPr>
          </a:p>
          <a:p>
            <a:pPr marL="515520" indent="-3866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Normal “y = a * x + b” linear regression is not enough</a:t>
            </a:r>
            <a:endParaRPr b="0" lang="en-US" sz="24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The intercept (b) is projected very far into the past (zero), poor accuracy</a:t>
            </a:r>
            <a:endParaRPr b="0" lang="en-US" sz="21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The slope (a) is very close to zero, 1ppm &lt;=&gt; 1.000001 (not much left for mantissa)</a:t>
            </a:r>
            <a:endParaRPr b="0" lang="en-US" sz="21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Inverse operation will require floating point division which is slow</a:t>
            </a:r>
            <a:endParaRPr b="0" lang="en-US" sz="2100" spc="-1" strike="noStrike">
              <a:solidFill>
                <a:srgbClr val="000000"/>
              </a:solidFill>
              <a:latin typeface="Arial"/>
            </a:endParaRPr>
          </a:p>
          <a:p>
            <a:pPr marL="515520" indent="-3866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To improve accuracy and numeric stability:</a:t>
            </a:r>
            <a:endParaRPr b="0" lang="en-US" sz="24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Use centroids (mean_x, mean_y) instead of zero-intercept</a:t>
            </a:r>
            <a:endParaRPr b="0" lang="en-US" sz="21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Keep both forward and inverse slope to avoid any divisions later</a:t>
            </a:r>
            <a:endParaRPr b="0" lang="en-US" sz="21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Keep slope values minus 1 instead of actual slope values</a:t>
            </a:r>
            <a:endParaRPr b="0" lang="en-US" sz="2100" spc="-1" strike="noStrike">
              <a:solidFill>
                <a:srgbClr val="000000"/>
              </a:solidFill>
              <a:latin typeface="Arial"/>
            </a:endParaRPr>
          </a:p>
          <a:p>
            <a:pPr marL="515520" indent="-3866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Feed the CRM model to DTC:</a:t>
            </a:r>
            <a:endParaRPr b="0" lang="en-US" sz="2400" spc="-1" strike="noStrike">
              <a:solidFill>
                <a:srgbClr val="000000"/>
              </a:solidFill>
              <a:latin typeface="Arial"/>
            </a:endParaRPr>
          </a:p>
          <a:p>
            <a:pPr lvl="1" marL="1031400" indent="-386640">
              <a:lnSpc>
                <a:spcPct val="100000"/>
              </a:lnSpc>
              <a:spcAft>
                <a:spcPts val="848"/>
              </a:spcAft>
              <a:buClr>
                <a:srgbClr val="000000"/>
              </a:buClr>
              <a:buSzPct val="40000"/>
              <a:buFont typeface="Wingdings" charset="2"/>
              <a:buChar char=""/>
            </a:pPr>
            <a:r>
              <a:rPr b="1" lang="en-US" sz="2100" spc="-1" strike="noStrike">
                <a:solidFill>
                  <a:srgbClr val="168253"/>
                </a:solidFill>
                <a:latin typeface="Arial"/>
              </a:rPr>
              <a:t>crm_ref_local_ticks, crm_ref_remote_ticks, crm_slope_lr_m1, crm_slope_rl_m1</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6137A92A-CC3B-4D8B-A8F4-D4696591FA93}"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ubTitle"/>
          </p:nvPr>
        </p:nvSpPr>
        <p:spPr>
          <a:xfrm>
            <a:off x="1620000" y="216000"/>
            <a:ext cx="8098200" cy="4338360"/>
          </a:xfrm>
          <a:prstGeom prst="rect">
            <a:avLst/>
          </a:prstGeom>
          <a:noFill/>
          <a:ln w="0">
            <a:noFill/>
          </a:ln>
        </p:spPr>
        <p:txBody>
          <a:bodyPr lIns="0" rIns="0" tIns="0" bIns="0" anchor="ctr">
            <a:noAutofit/>
          </a:bodyPr>
          <a:p>
            <a:pPr algn="ctr">
              <a:lnSpc>
                <a:spcPct val="100000"/>
              </a:lnSpc>
            </a:pPr>
            <a:r>
              <a:rPr b="0" lang="en-US" sz="3200" spc="-1" strike="noStrike">
                <a:solidFill>
                  <a:srgbClr val="000000"/>
                </a:solidFill>
                <a:latin typeface="Times New Roman"/>
              </a:rPr>
              <a:t>FTM → CRM → </a:t>
            </a:r>
            <a:r>
              <a:rPr b="1" lang="en-US" sz="3200" spc="-1" strike="noStrike">
                <a:solidFill>
                  <a:srgbClr val="000000"/>
                </a:solidFill>
                <a:latin typeface="Times New Roman"/>
              </a:rPr>
              <a:t>DTC ↔ </a:t>
            </a:r>
            <a:r>
              <a:rPr b="0" lang="en-US" sz="3200" spc="-1" strike="noStrike">
                <a:solidFill>
                  <a:srgbClr val="000000"/>
                </a:solidFill>
                <a:latin typeface="Times New Roman"/>
              </a:rPr>
              <a:t>DTR</a:t>
            </a: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E8298BE6-C36A-4AA4-9638-896AB7B37209}"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DTC</a:t>
            </a:r>
            <a:endParaRPr b="0" lang="en-US" sz="3300" spc="-1" strike="noStrike">
              <a:solidFill>
                <a:srgbClr val="000000"/>
              </a:solidFill>
              <a:latin typeface="Arial"/>
            </a:endParaRPr>
          </a:p>
        </p:txBody>
      </p:sp>
      <p:sp>
        <p:nvSpPr>
          <p:cNvPr id="162"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74000"/>
          </a:bodyPr>
          <a:p>
            <a:pPr marL="426240" indent="-3196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Gets from CRM</a:t>
            </a:r>
            <a:endParaRPr b="0" lang="en-US" sz="2400" spc="-1" strike="noStrike">
              <a:solidFill>
                <a:srgbClr val="000000"/>
              </a:solidFill>
              <a:latin typeface="Arial"/>
            </a:endParaRPr>
          </a:p>
          <a:p>
            <a:pPr lvl="1" marL="852480" indent="-319680">
              <a:lnSpc>
                <a:spcPct val="100000"/>
              </a:lnSpc>
              <a:spcAft>
                <a:spcPts val="848"/>
              </a:spcAft>
              <a:buClr>
                <a:srgbClr val="000000"/>
              </a:buClr>
              <a:buSzPct val="40000"/>
              <a:buFont typeface="Wingdings" charset="2"/>
              <a:buChar char=""/>
            </a:pPr>
            <a:r>
              <a:rPr b="1" lang="en-US" sz="2100" spc="-1" strike="noStrike">
                <a:solidFill>
                  <a:srgbClr val="ffbf00"/>
                </a:solidFill>
                <a:latin typeface="Arial"/>
              </a:rPr>
              <a:t>crm_ref_local_ticks, crm_ref_remote_ticks</a:t>
            </a:r>
            <a:endParaRPr b="0" lang="en-US" sz="2100" spc="-1" strike="noStrike">
              <a:solidFill>
                <a:srgbClr val="000000"/>
              </a:solidFill>
              <a:latin typeface="Arial"/>
            </a:endParaRPr>
          </a:p>
          <a:p>
            <a:pPr lvl="1" marL="852480" indent="-319680">
              <a:lnSpc>
                <a:spcPct val="100000"/>
              </a:lnSpc>
              <a:spcAft>
                <a:spcPts val="848"/>
              </a:spcAft>
              <a:buClr>
                <a:srgbClr val="000000"/>
              </a:buClr>
              <a:buSzPct val="40000"/>
              <a:buFont typeface="Wingdings" charset="2"/>
              <a:buChar char=""/>
            </a:pPr>
            <a:r>
              <a:rPr b="1" lang="en-US" sz="2100" spc="-1" strike="noStrike">
                <a:solidFill>
                  <a:srgbClr val="ffbf00"/>
                </a:solidFill>
                <a:latin typeface="Arial"/>
              </a:rPr>
              <a:t>crm_slope_lr_m1, crm_slope_rl_m1</a:t>
            </a:r>
            <a:endParaRPr b="0" lang="en-US" sz="2100" spc="-1" strike="noStrike">
              <a:solidFill>
                <a:srgbClr val="000000"/>
              </a:solidFill>
              <a:latin typeface="Arial"/>
            </a:endParaRPr>
          </a:p>
          <a:p>
            <a:pPr marL="426240" indent="-3196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Waits for next TEZ to get timer_base_ticks</a:t>
            </a:r>
            <a:endParaRPr b="0" lang="en-US" sz="2400" spc="-1" strike="noStrike">
              <a:solidFill>
                <a:srgbClr val="000000"/>
              </a:solidFill>
              <a:latin typeface="Arial"/>
            </a:endParaRPr>
          </a:p>
          <a:p>
            <a:pPr lvl="1" marL="852480" indent="-31968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get </a:t>
            </a:r>
            <a:r>
              <a:rPr b="1" lang="en-US" sz="2100" spc="-1" strike="noStrike">
                <a:solidFill>
                  <a:srgbClr val="ffbf00"/>
                </a:solidFill>
                <a:latin typeface="Arial"/>
              </a:rPr>
              <a:t>timer_base_ticks</a:t>
            </a:r>
            <a:r>
              <a:rPr b="0" lang="en-US" sz="2100" spc="-1" strike="noStrike">
                <a:solidFill>
                  <a:srgbClr val="050505"/>
                </a:solidFill>
                <a:latin typeface="Arial"/>
              </a:rPr>
              <a:t> (= the time of last TEZ, in local timer ticks)</a:t>
            </a:r>
            <a:endParaRPr b="0" lang="en-US" sz="2100" spc="-1" strike="noStrike">
              <a:solidFill>
                <a:srgbClr val="000000"/>
              </a:solidFill>
              <a:latin typeface="Arial"/>
            </a:endParaRPr>
          </a:p>
          <a:p>
            <a:pPr marL="426240" indent="-3196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Can calculate</a:t>
            </a:r>
            <a:endParaRPr b="0" lang="en-US" sz="2400" spc="-1" strike="noStrike">
              <a:solidFill>
                <a:srgbClr val="000000"/>
              </a:solidFill>
              <a:latin typeface="Arial"/>
            </a:endParaRPr>
          </a:p>
          <a:p>
            <a:pPr lvl="1" marL="852480" indent="-31968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Slave / master timer ticks @ last TEZ</a:t>
            </a:r>
            <a:endParaRPr b="0" lang="en-US" sz="2100" spc="-1" strike="noStrike">
              <a:solidFill>
                <a:srgbClr val="000000"/>
              </a:solidFill>
              <a:latin typeface="Arial"/>
            </a:endParaRPr>
          </a:p>
          <a:p>
            <a:pPr lvl="1" marL="852480" indent="-31968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Master / </a:t>
            </a:r>
            <a:r>
              <a:rPr b="1" lang="en-US" sz="2100" spc="-1" strike="noStrike">
                <a:solidFill>
                  <a:srgbClr val="158466"/>
                </a:solidFill>
                <a:latin typeface="Arial"/>
              </a:rPr>
              <a:t>slave timer ticks @ next TEZ</a:t>
            </a:r>
            <a:endParaRPr b="0" lang="en-US" sz="2100" spc="-1" strike="noStrike">
              <a:solidFill>
                <a:srgbClr val="000000"/>
              </a:solidFill>
              <a:latin typeface="Arial"/>
            </a:endParaRPr>
          </a:p>
          <a:p>
            <a:pPr marL="426240" indent="-3196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The latter can be directly used to </a:t>
            </a:r>
            <a:r>
              <a:rPr b="0" lang="en-US" sz="2400" spc="-1" strike="noStrike" u="sng">
                <a:solidFill>
                  <a:srgbClr val="050505"/>
                </a:solidFill>
                <a:uFillTx/>
                <a:latin typeface="Arial"/>
              </a:rPr>
              <a:t>adjust slave’s TEZ phase</a:t>
            </a:r>
            <a:endParaRPr b="0" lang="en-US" sz="2400" spc="-1" strike="noStrike">
              <a:solidFill>
                <a:srgbClr val="000000"/>
              </a:solidFill>
              <a:latin typeface="Arial"/>
            </a:endParaRPr>
          </a:p>
          <a:p>
            <a:pPr marL="426240" indent="-3196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To </a:t>
            </a:r>
            <a:r>
              <a:rPr b="0" lang="en-US" sz="2400" spc="-1" strike="noStrike" u="sng">
                <a:solidFill>
                  <a:srgbClr val="050505"/>
                </a:solidFill>
                <a:uFillTx/>
                <a:latin typeface="Arial"/>
              </a:rPr>
              <a:t>adjust TEZ period</a:t>
            </a:r>
            <a:r>
              <a:rPr b="0" lang="en-US" sz="2400" spc="-1" strike="noStrike">
                <a:solidFill>
                  <a:srgbClr val="050505"/>
                </a:solidFill>
                <a:latin typeface="Arial"/>
              </a:rPr>
              <a:t> – just multiply by slope</a:t>
            </a:r>
            <a:endParaRPr b="0" lang="en-US" sz="2400" spc="-1" strike="noStrike">
              <a:solidFill>
                <a:srgbClr val="000000"/>
              </a:solidFill>
              <a:latin typeface="Arial"/>
            </a:endParaRPr>
          </a:p>
        </p:txBody>
      </p:sp>
      <p:sp>
        <p:nvSpPr>
          <p:cNvPr id="4" name="PlaceHolder 3"/>
          <p:cNvSpPr>
            <a:spLocks noGrp="1"/>
          </p:cNvSpPr>
          <p:nvPr>
            <p:ph type="sldNum" idx="2"/>
          </p:nvPr>
        </p:nvSpPr>
        <p:spPr/>
        <p:txBody>
          <a:bodyPr/>
          <a:p>
            <a:fld id="{986D4618-1CCD-42DA-AF82-71CC3496E194}"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DTC: Timer ticks @ last TEZ</a:t>
            </a:r>
            <a:endParaRPr b="0" lang="en-US" sz="3300" spc="-1" strike="noStrike">
              <a:solidFill>
                <a:srgbClr val="000000"/>
              </a:solidFill>
              <a:latin typeface="Arial"/>
            </a:endParaRPr>
          </a:p>
        </p:txBody>
      </p:sp>
      <p:sp>
        <p:nvSpPr>
          <p:cNvPr id="164"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Regression: slave =&gt; master</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delta_local_ticks =</a:t>
            </a:r>
            <a:endParaRPr b="0" lang="en-US" sz="2100" spc="-1" strike="noStrike">
              <a:solidFill>
                <a:srgbClr val="000000"/>
              </a:solidFill>
              <a:latin typeface="Arial"/>
            </a:endParaRPr>
          </a:p>
          <a:p>
            <a:pPr marL="1296000" indent="0">
              <a:lnSpc>
                <a:spcPct val="100000"/>
              </a:lnSpc>
              <a:spcAft>
                <a:spcPts val="632"/>
              </a:spcAft>
              <a:buNone/>
              <a:tabLst>
                <a:tab algn="l" pos="0"/>
              </a:tabLst>
            </a:pPr>
            <a:r>
              <a:rPr b="1" lang="en-US" sz="1800" spc="-1" strike="noStrike">
                <a:solidFill>
                  <a:srgbClr val="ffbf00"/>
                </a:solidFill>
                <a:latin typeface="Arial"/>
              </a:rPr>
              <a:t>timer_base_ticks</a:t>
            </a:r>
            <a:r>
              <a:rPr b="0" lang="en-US" sz="1800" spc="-1" strike="noStrike">
                <a:solidFill>
                  <a:srgbClr val="ffbf00"/>
                </a:solidFill>
                <a:latin typeface="Arial"/>
              </a:rPr>
              <a:t> </a:t>
            </a:r>
            <a:r>
              <a:rPr b="0" lang="en-US" sz="1800" spc="-1" strike="noStrike">
                <a:solidFill>
                  <a:srgbClr val="050505"/>
                </a:solidFill>
                <a:latin typeface="Arial"/>
              </a:rPr>
              <a:t>– crm_ref_local_ticks</a:t>
            </a:r>
            <a:endParaRPr b="0" lang="en-US" sz="18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delta_remote_ticks =</a:t>
            </a:r>
            <a:endParaRPr b="0" lang="en-US" sz="2100" spc="-1" strike="noStrike">
              <a:solidFill>
                <a:srgbClr val="000000"/>
              </a:solidFill>
              <a:latin typeface="Arial"/>
            </a:endParaRPr>
          </a:p>
          <a:p>
            <a:pPr lvl="2" marL="1296000" indent="-288000">
              <a:lnSpc>
                <a:spcPct val="100000"/>
              </a:lnSpc>
              <a:spcAft>
                <a:spcPts val="632"/>
              </a:spcAft>
              <a:buClr>
                <a:srgbClr val="000000"/>
              </a:buClr>
              <a:buSzPct val="40000"/>
              <a:buFont typeface="Wingdings" charset="2"/>
              <a:buChar char=""/>
              <a:tabLst>
                <a:tab algn="l" pos="0"/>
              </a:tabLst>
            </a:pPr>
            <a:r>
              <a:rPr b="0" lang="en-US" sz="1800" spc="-1" strike="noStrike">
                <a:solidFill>
                  <a:srgbClr val="050505"/>
                </a:solidFill>
                <a:latin typeface="Arial"/>
              </a:rPr>
              <a:t>delta_local_ticks + delta_local_ticks * crm_slope_rl_m1</a:t>
            </a:r>
            <a:endParaRPr b="0" lang="en-US" sz="18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tabLst>
                <a:tab algn="l" pos="0"/>
              </a:tabLst>
            </a:pPr>
            <a:r>
              <a:rPr b="1" lang="en-US" sz="2100" spc="-1" strike="noStrike">
                <a:solidFill>
                  <a:srgbClr val="158466"/>
                </a:solidFill>
                <a:latin typeface="Arial"/>
              </a:rPr>
              <a:t>remote_ticks</a:t>
            </a:r>
            <a:r>
              <a:rPr b="0" lang="en-US" sz="2100" spc="-1" strike="noStrike">
                <a:solidFill>
                  <a:srgbClr val="050505"/>
                </a:solidFill>
                <a:latin typeface="Arial"/>
              </a:rPr>
              <a:t> =</a:t>
            </a:r>
            <a:endParaRPr b="0" lang="en-US" sz="2100" spc="-1" strike="noStrike">
              <a:solidFill>
                <a:srgbClr val="000000"/>
              </a:solidFill>
              <a:latin typeface="Arial"/>
            </a:endParaRPr>
          </a:p>
          <a:p>
            <a:pPr lvl="2" marL="1296000" indent="-288000">
              <a:lnSpc>
                <a:spcPct val="100000"/>
              </a:lnSpc>
              <a:spcAft>
                <a:spcPts val="632"/>
              </a:spcAft>
              <a:buClr>
                <a:srgbClr val="000000"/>
              </a:buClr>
              <a:buSzPct val="40000"/>
              <a:buFont typeface="Wingdings" charset="2"/>
              <a:buChar char=""/>
              <a:tabLst>
                <a:tab algn="l" pos="0"/>
              </a:tabLst>
            </a:pPr>
            <a:r>
              <a:rPr b="0" lang="en-US" sz="1800" spc="-1" strike="noStrike">
                <a:solidFill>
                  <a:srgbClr val="050505"/>
                </a:solidFill>
                <a:latin typeface="Arial"/>
              </a:rPr>
              <a:t>crm_ref_local_ticks + delta_remote_ticks</a:t>
            </a:r>
            <a:endParaRPr b="0" lang="en-US" sz="1800" spc="-1" strike="noStrike">
              <a:solidFill>
                <a:srgbClr val="000000"/>
              </a:solidFill>
              <a:latin typeface="Arial"/>
            </a:endParaRPr>
          </a:p>
        </p:txBody>
      </p:sp>
      <p:sp>
        <p:nvSpPr>
          <p:cNvPr id="4" name="PlaceHolder 3"/>
          <p:cNvSpPr>
            <a:spLocks noGrp="1"/>
          </p:cNvSpPr>
          <p:nvPr>
            <p:ph type="sldNum" idx="2"/>
          </p:nvPr>
        </p:nvSpPr>
        <p:spPr/>
        <p:txBody>
          <a:bodyPr/>
          <a:p>
            <a:fld id="{4208758C-6B51-4CD9-989C-E41AA9FFAEA8}"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DTC: Align to Master Cycle</a:t>
            </a:r>
            <a:endParaRPr b="0" lang="en-US" sz="3300" spc="-1" strike="noStrike">
              <a:solidFill>
                <a:srgbClr val="000000"/>
              </a:solidFill>
              <a:latin typeface="Arial"/>
            </a:endParaRPr>
          </a:p>
        </p:txBody>
      </p:sp>
      <p:sp>
        <p:nvSpPr>
          <p:cNvPr id="166"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86000"/>
          </a:bodyPr>
          <a:p>
            <a:pPr marL="451440" indent="-3384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Figure out the master cycle we are aligning to</a:t>
            </a:r>
            <a:endParaRPr b="0" lang="en-US" sz="2400" spc="-1" strike="noStrike">
              <a:solidFill>
                <a:srgbClr val="000000"/>
              </a:solidFill>
              <a:latin typeface="Arial"/>
            </a:endParaRPr>
          </a:p>
          <a:p>
            <a:pPr lvl="1" marL="903240" indent="-338400">
              <a:lnSpc>
                <a:spcPct val="100000"/>
              </a:lnSpc>
              <a:spcAft>
                <a:spcPts val="848"/>
              </a:spcAft>
              <a:buClr>
                <a:srgbClr val="000000"/>
              </a:buClr>
              <a:buSzPct val="40000"/>
              <a:buFont typeface="Wingdings" charset="2"/>
              <a:buChar char=""/>
            </a:pPr>
            <a:r>
              <a:rPr b="1" lang="en-US" sz="2100" spc="-1" strike="noStrike">
                <a:solidFill>
                  <a:srgbClr val="158466"/>
                </a:solidFill>
                <a:latin typeface="Arial"/>
              </a:rPr>
              <a:t>aligned_cycle_count</a:t>
            </a:r>
            <a:r>
              <a:rPr b="1" lang="en-US" sz="2100" spc="-1" strike="noStrike">
                <a:solidFill>
                  <a:srgbClr val="050505"/>
                </a:solidFill>
                <a:latin typeface="Arial"/>
              </a:rPr>
              <a:t> </a:t>
            </a:r>
            <a:r>
              <a:rPr b="0" lang="en-US" sz="2100" spc="-1" strike="noStrike">
                <a:solidFill>
                  <a:srgbClr val="050505"/>
                </a:solidFill>
                <a:latin typeface="Arial"/>
              </a:rPr>
              <a:t>=</a:t>
            </a:r>
            <a:endParaRPr b="0" lang="en-US" sz="2100" spc="-1" strike="noStrike">
              <a:solidFill>
                <a:srgbClr val="000000"/>
              </a:solidFill>
              <a:latin typeface="Arial"/>
            </a:endParaRPr>
          </a:p>
          <a:p>
            <a:pPr marL="1355400" indent="0">
              <a:lnSpc>
                <a:spcPct val="100000"/>
              </a:lnSpc>
              <a:spcAft>
                <a:spcPts val="632"/>
              </a:spcAft>
              <a:buNone/>
              <a:tabLst>
                <a:tab algn="l" pos="0"/>
              </a:tabLst>
            </a:pPr>
            <a:r>
              <a:rPr b="0" lang="en-US" sz="2100" spc="-1" strike="noStrike">
                <a:solidFill>
                  <a:srgbClr val="050505"/>
                </a:solidFill>
                <a:latin typeface="Arial"/>
              </a:rPr>
              <a:t>(</a:t>
            </a:r>
            <a:r>
              <a:rPr b="1" lang="en-US" sz="2100" spc="-1" strike="noStrike">
                <a:solidFill>
                  <a:srgbClr val="ffbf00"/>
                </a:solidFill>
                <a:latin typeface="Arial"/>
              </a:rPr>
              <a:t>remote_ticks</a:t>
            </a:r>
            <a:r>
              <a:rPr b="0" lang="en-US" sz="2100" spc="-1" strike="noStrike">
                <a:solidFill>
                  <a:srgbClr val="050505"/>
                </a:solidFill>
                <a:latin typeface="Arial"/>
              </a:rPr>
              <a:t> + TIMER_PERIOD_TICKS/2)</a:t>
            </a:r>
            <a:endParaRPr b="0" lang="en-US" sz="2100" spc="-1" strike="noStrike">
              <a:solidFill>
                <a:srgbClr val="000000"/>
              </a:solidFill>
              <a:latin typeface="Arial"/>
            </a:endParaRPr>
          </a:p>
          <a:p>
            <a:pPr marL="1355400" indent="0">
              <a:lnSpc>
                <a:spcPct val="100000"/>
              </a:lnSpc>
              <a:spcAft>
                <a:spcPts val="632"/>
              </a:spcAft>
              <a:buNone/>
              <a:tabLst>
                <a:tab algn="l" pos="0"/>
              </a:tabLst>
            </a:pPr>
            <a:r>
              <a:rPr b="0" lang="en-US" sz="2100" spc="-1" strike="noStrike">
                <a:solidFill>
                  <a:srgbClr val="050505"/>
                </a:solidFill>
                <a:latin typeface="Arial"/>
              </a:rPr>
              <a:t>/ TIMER_PERIOD_TICKS + 2</a:t>
            </a:r>
            <a:endParaRPr b="0" lang="en-US" sz="2100" spc="-1" strike="noStrike">
              <a:solidFill>
                <a:srgbClr val="000000"/>
              </a:solidFill>
              <a:latin typeface="Arial"/>
            </a:endParaRPr>
          </a:p>
          <a:p>
            <a:pPr lvl="1" marL="903240" indent="-338400">
              <a:lnSpc>
                <a:spcPct val="100000"/>
              </a:lnSpc>
              <a:spcAft>
                <a:spcPts val="848"/>
              </a:spcAft>
              <a:buClr>
                <a:srgbClr val="000000"/>
              </a:buClr>
              <a:buSzPct val="40000"/>
              <a:buFont typeface="Wingdings" charset="2"/>
              <a:buChar char=""/>
              <a:tabLst>
                <a:tab algn="l" pos="0"/>
              </a:tabLst>
            </a:pPr>
            <a:r>
              <a:rPr b="1" lang="en-US" sz="2100" spc="-1" strike="noStrike">
                <a:solidFill>
                  <a:srgbClr val="158466"/>
                </a:solidFill>
                <a:latin typeface="Arial"/>
              </a:rPr>
              <a:t>aligned_remote_ticks</a:t>
            </a:r>
            <a:r>
              <a:rPr b="1" lang="en-US" sz="2100" spc="-1" strike="noStrike">
                <a:solidFill>
                  <a:srgbClr val="050505"/>
                </a:solidFill>
                <a:latin typeface="Arial"/>
              </a:rPr>
              <a:t> </a:t>
            </a:r>
            <a:r>
              <a:rPr b="0" lang="en-US" sz="2100" spc="-1" strike="noStrike">
                <a:solidFill>
                  <a:srgbClr val="050505"/>
                </a:solidFill>
                <a:latin typeface="Arial"/>
              </a:rPr>
              <a:t>=</a:t>
            </a:r>
            <a:endParaRPr b="0" lang="en-US" sz="2100" spc="-1" strike="noStrike">
              <a:solidFill>
                <a:srgbClr val="000000"/>
              </a:solidFill>
              <a:latin typeface="Arial"/>
            </a:endParaRPr>
          </a:p>
          <a:p>
            <a:pPr marL="1355400" indent="0">
              <a:lnSpc>
                <a:spcPct val="100000"/>
              </a:lnSpc>
              <a:spcAft>
                <a:spcPts val="632"/>
              </a:spcAft>
              <a:buNone/>
              <a:tabLst>
                <a:tab algn="l" pos="0"/>
              </a:tabLst>
            </a:pPr>
            <a:r>
              <a:rPr b="0" lang="en-US" sz="2100" spc="-1" strike="noStrike">
                <a:solidFill>
                  <a:srgbClr val="050505"/>
                </a:solidFill>
                <a:latin typeface="Arial"/>
              </a:rPr>
              <a:t>aligned_cycle_count * TIMER_PERIOD_TICKS</a:t>
            </a:r>
            <a:endParaRPr b="0" lang="en-US" sz="2100" spc="-1" strike="noStrike">
              <a:solidFill>
                <a:srgbClr val="000000"/>
              </a:solidFill>
              <a:latin typeface="Arial"/>
            </a:endParaRPr>
          </a:p>
          <a:p>
            <a:pPr marL="451440" indent="-3384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+2 because:</a:t>
            </a:r>
            <a:endParaRPr b="0" lang="en-US" sz="2400" spc="-1" strike="noStrike">
              <a:solidFill>
                <a:srgbClr val="000000"/>
              </a:solidFill>
              <a:latin typeface="Arial"/>
            </a:endParaRPr>
          </a:p>
          <a:p>
            <a:pPr lvl="1" marL="903240" indent="-3384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remote_ticks - corresponds to the cycle in progress now</a:t>
            </a:r>
            <a:endParaRPr b="0" lang="en-US" sz="2100" spc="-1" strike="noStrike">
              <a:solidFill>
                <a:srgbClr val="000000"/>
              </a:solidFill>
              <a:latin typeface="Arial"/>
            </a:endParaRPr>
          </a:p>
          <a:p>
            <a:pPr lvl="1" marL="903240" indent="-33840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DTR runs alignment a cycle after, </a:t>
            </a:r>
            <a:r>
              <a:rPr b="0" lang="en-US" sz="2100" spc="-1" strike="noStrike" u="sng">
                <a:solidFill>
                  <a:srgbClr val="050505"/>
                </a:solidFill>
                <a:uFillTx/>
                <a:latin typeface="Arial"/>
              </a:rPr>
              <a:t>to controls the next cycle after next</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52C9429F-6F0A-430A-AB0D-26561E626BB6}"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DTC: Timer ticks @ next TEZ</a:t>
            </a:r>
            <a:endParaRPr b="0" lang="en-US" sz="3300" spc="-1" strike="noStrike">
              <a:solidFill>
                <a:srgbClr val="000000"/>
              </a:solidFill>
              <a:latin typeface="Arial"/>
            </a:endParaRPr>
          </a:p>
        </p:txBody>
      </p:sp>
      <p:sp>
        <p:nvSpPr>
          <p:cNvPr id="168"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84000"/>
          </a:bodyPr>
          <a:p>
            <a:pPr marL="415800" indent="-3117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Inverse Regression: master =&gt; slave</a:t>
            </a:r>
            <a:endParaRPr b="0" lang="en-US" sz="2400" spc="-1" strike="noStrike">
              <a:solidFill>
                <a:srgbClr val="000000"/>
              </a:solidFill>
              <a:latin typeface="Arial"/>
            </a:endParaRPr>
          </a:p>
          <a:p>
            <a:pPr lvl="1" marL="831600" indent="-31176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aligned_delta_remote_ticks =</a:t>
            </a:r>
            <a:endParaRPr b="0" lang="en-US" sz="2100" spc="-1" strike="noStrike">
              <a:solidFill>
                <a:srgbClr val="000000"/>
              </a:solidFill>
              <a:latin typeface="Arial"/>
            </a:endParaRPr>
          </a:p>
          <a:p>
            <a:pPr marL="1247760" indent="0">
              <a:lnSpc>
                <a:spcPct val="100000"/>
              </a:lnSpc>
              <a:spcAft>
                <a:spcPts val="632"/>
              </a:spcAft>
              <a:buNone/>
              <a:tabLst>
                <a:tab algn="l" pos="0"/>
              </a:tabLst>
            </a:pPr>
            <a:r>
              <a:rPr b="1" lang="en-US" sz="1800" spc="-1" strike="noStrike">
                <a:solidFill>
                  <a:srgbClr val="ffbf00"/>
                </a:solidFill>
                <a:latin typeface="Arial"/>
              </a:rPr>
              <a:t>aligned_remote_ticks</a:t>
            </a:r>
            <a:r>
              <a:rPr b="0" lang="en-US" sz="1800" spc="-1" strike="noStrike">
                <a:solidFill>
                  <a:srgbClr val="050505"/>
                </a:solidFill>
                <a:latin typeface="Arial"/>
              </a:rPr>
              <a:t> – crm_ref_remote_ticks</a:t>
            </a:r>
            <a:endParaRPr b="0" lang="en-US" sz="1800" spc="-1" strike="noStrike">
              <a:solidFill>
                <a:srgbClr val="000000"/>
              </a:solidFill>
              <a:latin typeface="Arial"/>
            </a:endParaRPr>
          </a:p>
          <a:p>
            <a:pPr lvl="1" marL="831600" indent="-311760">
              <a:lnSpc>
                <a:spcPct val="100000"/>
              </a:lnSpc>
              <a:spcAft>
                <a:spcPts val="848"/>
              </a:spcAft>
              <a:buClr>
                <a:srgbClr val="000000"/>
              </a:buClr>
              <a:buSzPct val="40000"/>
              <a:buFont typeface="Wingdings" charset="2"/>
              <a:buChar char=""/>
              <a:tabLst>
                <a:tab algn="l" pos="0"/>
              </a:tabLst>
            </a:pPr>
            <a:r>
              <a:rPr b="0" lang="en-US" sz="2100" spc="-1" strike="noStrike">
                <a:solidFill>
                  <a:srgbClr val="050505"/>
                </a:solidFill>
                <a:latin typeface="Arial"/>
              </a:rPr>
              <a:t>aligned_delta_local_ticks =</a:t>
            </a:r>
            <a:endParaRPr b="0" lang="en-US" sz="2100" spc="-1" strike="noStrike">
              <a:solidFill>
                <a:srgbClr val="000000"/>
              </a:solidFill>
              <a:latin typeface="Arial"/>
            </a:endParaRPr>
          </a:p>
          <a:p>
            <a:pPr marL="1247760" indent="0">
              <a:lnSpc>
                <a:spcPct val="100000"/>
              </a:lnSpc>
              <a:spcAft>
                <a:spcPts val="632"/>
              </a:spcAft>
              <a:buNone/>
              <a:tabLst>
                <a:tab algn="l" pos="0"/>
              </a:tabLst>
            </a:pPr>
            <a:r>
              <a:rPr b="0" lang="en-US" sz="2100" spc="-1" strike="noStrike">
                <a:solidFill>
                  <a:srgbClr val="050505"/>
                </a:solidFill>
                <a:latin typeface="Arial"/>
              </a:rPr>
              <a:t>aligned_delta_remote_ticks + </a:t>
            </a:r>
            <a:r>
              <a:rPr b="0" lang="en-US" sz="1800" spc="-1" strike="noStrike">
                <a:solidFill>
                  <a:srgbClr val="050505"/>
                </a:solidFill>
                <a:latin typeface="Arial"/>
              </a:rPr>
              <a:t>aligned_delta_remote_ticks * crm_slope_lr_m1</a:t>
            </a:r>
            <a:endParaRPr b="0" lang="en-US" sz="1800" spc="-1" strike="noStrike">
              <a:solidFill>
                <a:srgbClr val="000000"/>
              </a:solidFill>
              <a:latin typeface="Arial"/>
            </a:endParaRPr>
          </a:p>
          <a:p>
            <a:pPr lvl="1" marL="831600" indent="-311760">
              <a:lnSpc>
                <a:spcPct val="100000"/>
              </a:lnSpc>
              <a:spcAft>
                <a:spcPts val="848"/>
              </a:spcAft>
              <a:buClr>
                <a:srgbClr val="000000"/>
              </a:buClr>
              <a:buSzPct val="40000"/>
              <a:buFont typeface="Wingdings" charset="2"/>
              <a:buChar char=""/>
              <a:tabLst>
                <a:tab algn="l" pos="0"/>
              </a:tabLst>
            </a:pPr>
            <a:r>
              <a:rPr b="1" lang="en-US" sz="2100" spc="-1" strike="noStrike">
                <a:solidFill>
                  <a:srgbClr val="158466"/>
                </a:solidFill>
                <a:latin typeface="Arial"/>
              </a:rPr>
              <a:t>aligned_local_ticks</a:t>
            </a:r>
            <a:r>
              <a:rPr b="0" lang="en-US" sz="2100" spc="-1" strike="noStrike">
                <a:solidFill>
                  <a:srgbClr val="050505"/>
                </a:solidFill>
                <a:latin typeface="Arial"/>
              </a:rPr>
              <a:t> =</a:t>
            </a:r>
            <a:endParaRPr b="0" lang="en-US" sz="2100" spc="-1" strike="noStrike">
              <a:solidFill>
                <a:srgbClr val="000000"/>
              </a:solidFill>
              <a:latin typeface="Arial"/>
            </a:endParaRPr>
          </a:p>
          <a:p>
            <a:pPr marL="1247760" indent="0">
              <a:lnSpc>
                <a:spcPct val="100000"/>
              </a:lnSpc>
              <a:spcAft>
                <a:spcPts val="632"/>
              </a:spcAft>
              <a:buNone/>
              <a:tabLst>
                <a:tab algn="l" pos="0"/>
              </a:tabLst>
            </a:pPr>
            <a:r>
              <a:rPr b="0" lang="en-US" sz="2100" spc="-1" strike="noStrike">
                <a:solidFill>
                  <a:srgbClr val="050505"/>
                </a:solidFill>
                <a:latin typeface="Arial"/>
              </a:rPr>
              <a:t>crm_ref_local_ticks + aligned</a:t>
            </a:r>
            <a:r>
              <a:rPr b="0" lang="en-US" sz="1800" spc="-1" strike="noStrike">
                <a:solidFill>
                  <a:srgbClr val="050505"/>
                </a:solidFill>
                <a:latin typeface="Arial"/>
              </a:rPr>
              <a:t>_delta_local_ticks</a:t>
            </a:r>
            <a:endParaRPr b="0" lang="en-US" sz="1800" spc="-1" strike="noStrike">
              <a:solidFill>
                <a:srgbClr val="000000"/>
              </a:solidFill>
              <a:latin typeface="Arial"/>
            </a:endParaRPr>
          </a:p>
          <a:p>
            <a:pPr marL="415800" indent="-31176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If math ok:</a:t>
            </a:r>
            <a:endParaRPr b="0" lang="en-US" sz="2400" spc="-1" strike="noStrike">
              <a:solidFill>
                <a:srgbClr val="000000"/>
              </a:solidFill>
              <a:latin typeface="Arial"/>
            </a:endParaRPr>
          </a:p>
          <a:p>
            <a:pPr marL="831600" indent="0">
              <a:lnSpc>
                <a:spcPct val="100000"/>
              </a:lnSpc>
              <a:spcAft>
                <a:spcPts val="848"/>
              </a:spcAft>
              <a:buNone/>
              <a:tabLst>
                <a:tab algn="l" pos="0"/>
              </a:tabLst>
            </a:pPr>
            <a:r>
              <a:rPr b="0" lang="en-US" sz="2100" spc="-1" strike="noStrike">
                <a:solidFill>
                  <a:srgbClr val="050505"/>
                </a:solidFill>
                <a:highlight>
                  <a:srgbClr val="ffff00"/>
                </a:highlight>
                <a:latin typeface="Arial"/>
              </a:rPr>
              <a:t>aligned_local_ticks ~ timer_base_ticks + 2 * TIMER_PERIOD_TICKS</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0F52D454-4D42-432B-A21B-AC40E8A7D4EE}"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DTC: Alignment Instructions</a:t>
            </a:r>
            <a:endParaRPr b="0" lang="en-US" sz="3300" spc="-1" strike="noStrike">
              <a:solidFill>
                <a:srgbClr val="000000"/>
              </a:solidFill>
              <a:latin typeface="Arial"/>
            </a:endParaRPr>
          </a:p>
        </p:txBody>
      </p:sp>
      <p:sp>
        <p:nvSpPr>
          <p:cNvPr id="170"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0000"/>
              <a:buFont typeface="Wingdings" charset="2"/>
              <a:buChar char=""/>
            </a:pPr>
            <a:r>
              <a:rPr b="1" lang="en-US" sz="2400" spc="-1" strike="noStrike">
                <a:solidFill>
                  <a:srgbClr val="168253"/>
                </a:solidFill>
                <a:latin typeface="Arial"/>
              </a:rPr>
              <a:t>aligned_cycle_counter</a:t>
            </a:r>
            <a:r>
              <a:rPr b="0" lang="en-US" sz="2400" spc="-1" strike="noStrike">
                <a:solidFill>
                  <a:srgbClr val="050505"/>
                </a:solidFill>
                <a:latin typeface="Arial"/>
              </a:rPr>
              <a:t> - cycle number for that TEZ</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1" lang="en-US" sz="2400" spc="-1" strike="noStrike">
                <a:solidFill>
                  <a:srgbClr val="168253"/>
                </a:solidFill>
                <a:latin typeface="Arial"/>
              </a:rPr>
              <a:t>aligned_local_ticks</a:t>
            </a:r>
            <a:r>
              <a:rPr b="0" lang="en-US" sz="2400" spc="-1" strike="noStrike">
                <a:solidFill>
                  <a:srgbClr val="050505"/>
                </a:solidFill>
                <a:latin typeface="Arial"/>
              </a:rPr>
              <a:t> – the next aligned TEZ</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1" lang="en-US" sz="2400" spc="-1" strike="noStrike">
                <a:solidFill>
                  <a:srgbClr val="168253"/>
                </a:solidFill>
                <a:latin typeface="Arial"/>
              </a:rPr>
              <a:t>aligned_base_period_fp16</a:t>
            </a:r>
            <a:r>
              <a:rPr b="1" lang="en-US" sz="2400" spc="-1" strike="noStrike">
                <a:solidFill>
                  <a:srgbClr val="050505"/>
                </a:solidFill>
                <a:latin typeface="Arial"/>
              </a:rPr>
              <a:t> - n</a:t>
            </a:r>
            <a:r>
              <a:rPr b="0" lang="en-US" sz="2400" spc="-1" strike="noStrike">
                <a:solidFill>
                  <a:srgbClr val="050505"/>
                </a:solidFill>
                <a:latin typeface="Arial"/>
              </a:rPr>
              <a:t>ew timer period, in FP16 </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master_base_period_fp16 = (TIMER_PERIOD_TICKS * 65536.0)</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168253"/>
                </a:solidFill>
                <a:latin typeface="Arial"/>
              </a:rPr>
              <a:t>aligned_base_period_fp16</a:t>
            </a:r>
            <a:r>
              <a:rPr b="0" lang="en-US" sz="2100" spc="-1" strike="noStrike">
                <a:solidFill>
                  <a:srgbClr val="050505"/>
                </a:solidFill>
                <a:latin typeface="Arial"/>
              </a:rPr>
              <a:t> = master_base_period_fp16 +</a:t>
            </a:r>
            <a:endParaRPr b="0" lang="en-US" sz="2100" spc="-1" strike="noStrike">
              <a:solidFill>
                <a:srgbClr val="000000"/>
              </a:solidFill>
              <a:latin typeface="Arial"/>
            </a:endParaRPr>
          </a:p>
          <a:p>
            <a:pPr marL="1296000" indent="0">
              <a:lnSpc>
                <a:spcPct val="100000"/>
              </a:lnSpc>
              <a:spcAft>
                <a:spcPts val="632"/>
              </a:spcAft>
              <a:buNone/>
              <a:tabLst>
                <a:tab algn="l" pos="0"/>
              </a:tabLst>
            </a:pPr>
            <a:r>
              <a:rPr b="0" lang="en-US" sz="2100" spc="-1" strike="noStrike">
                <a:solidFill>
                  <a:srgbClr val="050505"/>
                </a:solidFill>
                <a:latin typeface="Arial"/>
              </a:rPr>
              <a:t>master_base_period_fp16 * </a:t>
            </a:r>
            <a:r>
              <a:rPr b="1" lang="en-US" sz="2100" spc="-1" strike="noStrike">
                <a:solidFill>
                  <a:srgbClr val="ffbf00"/>
                </a:solidFill>
                <a:latin typeface="Arial"/>
              </a:rPr>
              <a:t>crm_slope_lr_m1</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9CF38F8E-4465-4FBA-825D-EBC3578DBDE3}"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ubTitle"/>
          </p:nvPr>
        </p:nvSpPr>
        <p:spPr>
          <a:xfrm>
            <a:off x="1620000" y="216000"/>
            <a:ext cx="8098200" cy="4338360"/>
          </a:xfrm>
          <a:prstGeom prst="rect">
            <a:avLst/>
          </a:prstGeom>
          <a:noFill/>
          <a:ln w="0">
            <a:noFill/>
          </a:ln>
        </p:spPr>
        <p:txBody>
          <a:bodyPr lIns="0" rIns="0" tIns="0" bIns="0" anchor="ctr">
            <a:noAutofit/>
          </a:bodyPr>
          <a:p>
            <a:pPr algn="ctr">
              <a:lnSpc>
                <a:spcPct val="100000"/>
              </a:lnSpc>
            </a:pPr>
            <a:r>
              <a:rPr b="0" lang="en-US" sz="3200" spc="-1" strike="noStrike">
                <a:solidFill>
                  <a:srgbClr val="000000"/>
                </a:solidFill>
                <a:latin typeface="Times New Roman"/>
              </a:rPr>
              <a:t>FTM → CRM → DTC ↔ </a:t>
            </a:r>
            <a:r>
              <a:rPr b="1" lang="en-US" sz="3200" spc="-1" strike="noStrike">
                <a:solidFill>
                  <a:srgbClr val="000000"/>
                </a:solidFill>
                <a:latin typeface="Times New Roman"/>
              </a:rPr>
              <a:t>DTR</a:t>
            </a: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7034AB40-7B40-48F5-8038-C776276039B8}"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DTR: Disciplined Timer</a:t>
            </a:r>
            <a:endParaRPr b="0" lang="en-US" sz="3300" spc="-1" strike="noStrike">
              <a:solidFill>
                <a:srgbClr val="000000"/>
              </a:solidFill>
              <a:latin typeface="Arial"/>
            </a:endParaRPr>
          </a:p>
        </p:txBody>
      </p:sp>
      <p:sp>
        <p:nvSpPr>
          <p:cNvPr id="173" name="PlaceHolder 2"/>
          <p:cNvSpPr>
            <a:spLocks noGrp="1"/>
          </p:cNvSpPr>
          <p:nvPr>
            <p:ph/>
          </p:nvPr>
        </p:nvSpPr>
        <p:spPr>
          <a:xfrm>
            <a:off x="1620000" y="1368000"/>
            <a:ext cx="3950640" cy="3286440"/>
          </a:xfrm>
          <a:prstGeom prst="rect">
            <a:avLst/>
          </a:prstGeom>
          <a:noFill/>
          <a:ln w="0">
            <a:noFill/>
          </a:ln>
        </p:spPr>
        <p:txBody>
          <a:bodyPr lIns="0" rIns="0" tIns="0" bIns="0" anchor="t">
            <a:normAutofit fontScale="58000"/>
          </a:bodyPr>
          <a:p>
            <a:pPr marL="578160" indent="-43344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MCPWM Timer</a:t>
            </a:r>
            <a:endParaRPr b="0" lang="en-US" sz="32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clocked 40MHz @25ns</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period dithering</a:t>
            </a:r>
            <a:endParaRPr b="0" lang="en-US" sz="2800" spc="-1" strike="noStrike">
              <a:solidFill>
                <a:srgbClr val="000000"/>
              </a:solidFill>
              <a:latin typeface="Arial"/>
            </a:endParaRPr>
          </a:p>
          <a:p>
            <a:pPr marL="578160" indent="-43344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DTR State</a:t>
            </a:r>
            <a:endParaRPr b="0" lang="en-US" sz="32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cycle_counter</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timer_base_ticks</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actual_period_ticks</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shadow_period_ticks</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base_period_fp16</a:t>
            </a:r>
            <a:endParaRPr b="0" lang="en-US" sz="2800" spc="-1" strike="noStrike">
              <a:solidFill>
                <a:srgbClr val="000000"/>
              </a:solidFill>
              <a:latin typeface="Arial"/>
            </a:endParaRPr>
          </a:p>
          <a:p>
            <a:pPr lvl="1" marL="1156320" indent="-433440">
              <a:lnSpc>
                <a:spcPct val="100000"/>
              </a:lnSpc>
              <a:spcBef>
                <a:spcPts val="1134"/>
              </a:spcBef>
              <a:buClr>
                <a:srgbClr val="000000"/>
              </a:buClr>
              <a:buSzPct val="75000"/>
              <a:buFont typeface="Symbol"/>
              <a:buChar char=""/>
            </a:pPr>
            <a:r>
              <a:rPr b="0" lang="en-US" sz="2800" spc="-1" strike="noStrike">
                <a:solidFill>
                  <a:srgbClr val="000000"/>
                </a:solidFill>
                <a:latin typeface="Arial"/>
              </a:rPr>
              <a:t>period_ticks_frac_acc</a:t>
            </a:r>
            <a:endParaRPr b="0" lang="en-US" sz="2800" spc="-1" strike="noStrike">
              <a:solidFill>
                <a:srgbClr val="000000"/>
              </a:solidFill>
              <a:latin typeface="Arial"/>
            </a:endParaRPr>
          </a:p>
        </p:txBody>
      </p:sp>
      <p:sp>
        <p:nvSpPr>
          <p:cNvPr id="174" name="PlaceHolder 3"/>
          <p:cNvSpPr>
            <a:spLocks noGrp="1"/>
          </p:cNvSpPr>
          <p:nvPr>
            <p:ph/>
          </p:nvPr>
        </p:nvSpPr>
        <p:spPr>
          <a:xfrm>
            <a:off x="5770440" y="1368000"/>
            <a:ext cx="3950640" cy="3202200"/>
          </a:xfrm>
          <a:prstGeom prst="rect">
            <a:avLst/>
          </a:prstGeom>
          <a:noFill/>
          <a:ln w="0">
            <a:noFill/>
          </a:ln>
        </p:spPr>
        <p:txBody>
          <a:bodyPr lIns="0" rIns="0" tIns="0" bIns="0" anchor="t">
            <a:normAutofit fontScale="73000"/>
          </a:bodyPr>
          <a:p>
            <a:pPr marL="461160" indent="-34596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Shadow register</a:t>
            </a:r>
            <a:endParaRPr b="0" lang="en-US" sz="3200" spc="-1" strike="noStrike">
              <a:solidFill>
                <a:srgbClr val="000000"/>
              </a:solidFill>
              <a:latin typeface="Arial"/>
            </a:endParaRPr>
          </a:p>
          <a:p>
            <a:pPr lvl="1" marL="922680" indent="-345960">
              <a:lnSpc>
                <a:spcPct val="100000"/>
              </a:lnSpc>
              <a:spcBef>
                <a:spcPts val="1134"/>
              </a:spcBef>
              <a:buClr>
                <a:srgbClr val="000000"/>
              </a:buClr>
              <a:buSzPct val="75000"/>
              <a:buFont typeface="Symbol"/>
              <a:buChar char=""/>
            </a:pPr>
            <a:r>
              <a:rPr b="0" lang="en-US" sz="2800" spc="-1" strike="noStrike">
                <a:solidFill>
                  <a:srgbClr val="000000"/>
                </a:solidFill>
                <a:latin typeface="Arial"/>
              </a:rPr>
              <a:t>Configure period any time</a:t>
            </a:r>
            <a:endParaRPr b="0" lang="en-US" sz="2800" spc="-1" strike="noStrike">
              <a:solidFill>
                <a:srgbClr val="000000"/>
              </a:solidFill>
              <a:latin typeface="Arial"/>
            </a:endParaRPr>
          </a:p>
          <a:p>
            <a:pPr lvl="1" marL="922680" indent="-345960">
              <a:lnSpc>
                <a:spcPct val="100000"/>
              </a:lnSpc>
              <a:spcBef>
                <a:spcPts val="1134"/>
              </a:spcBef>
              <a:buClr>
                <a:srgbClr val="000000"/>
              </a:buClr>
              <a:buSzPct val="75000"/>
              <a:buFont typeface="Symbol"/>
              <a:buChar char=""/>
            </a:pPr>
            <a:r>
              <a:rPr b="0" lang="en-US" sz="2800" spc="-1" strike="noStrike">
                <a:solidFill>
                  <a:srgbClr val="000000"/>
                </a:solidFill>
                <a:latin typeface="Arial"/>
              </a:rPr>
              <a:t>Have it set on next TEZ</a:t>
            </a:r>
            <a:endParaRPr b="0" lang="en-US" sz="2800" spc="-1" strike="noStrike">
              <a:solidFill>
                <a:srgbClr val="000000"/>
              </a:solidFill>
              <a:latin typeface="Arial"/>
            </a:endParaRPr>
          </a:p>
          <a:p>
            <a:pPr lvl="1" marL="922680" indent="-345960">
              <a:lnSpc>
                <a:spcPct val="100000"/>
              </a:lnSpc>
              <a:spcBef>
                <a:spcPts val="1134"/>
              </a:spcBef>
              <a:buClr>
                <a:srgbClr val="000000"/>
              </a:buClr>
              <a:buSzPct val="75000"/>
              <a:buFont typeface="Symbol"/>
              <a:buChar char=""/>
            </a:pPr>
            <a:r>
              <a:rPr b="0" lang="en-US" sz="2800" spc="-1" strike="noStrike">
                <a:solidFill>
                  <a:srgbClr val="000000"/>
                </a:solidFill>
                <a:latin typeface="Arial"/>
              </a:rPr>
              <a:t>Avoids race condition</a:t>
            </a:r>
            <a:endParaRPr b="0" lang="en-US" sz="2800" spc="-1" strike="noStrike">
              <a:solidFill>
                <a:srgbClr val="000000"/>
              </a:solidFill>
              <a:latin typeface="Arial"/>
            </a:endParaRPr>
          </a:p>
          <a:p>
            <a:pPr marL="461160" indent="-34596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Period dithering</a:t>
            </a:r>
            <a:endParaRPr b="0" lang="en-US" sz="3200" spc="-1" strike="noStrike">
              <a:solidFill>
                <a:srgbClr val="000000"/>
              </a:solidFill>
              <a:latin typeface="Arial"/>
            </a:endParaRPr>
          </a:p>
          <a:p>
            <a:pPr lvl="1" marL="922680" indent="-345960">
              <a:lnSpc>
                <a:spcPct val="100000"/>
              </a:lnSpc>
              <a:spcBef>
                <a:spcPts val="1134"/>
              </a:spcBef>
              <a:buClr>
                <a:srgbClr val="000000"/>
              </a:buClr>
              <a:buSzPct val="75000"/>
              <a:buFont typeface="Symbol"/>
              <a:buChar char=""/>
            </a:pPr>
            <a:r>
              <a:rPr b="0" lang="en-US" sz="2800" spc="-1" strike="noStrike">
                <a:solidFill>
                  <a:srgbClr val="000000"/>
                </a:solidFill>
                <a:latin typeface="Arial"/>
              </a:rPr>
              <a:t>Update period_ticks from base_period_fp16 &amp;  period_ticks_frac_acc</a:t>
            </a:r>
            <a:endParaRPr b="0" lang="en-US" sz="2800" spc="-1" strike="noStrike">
              <a:solidFill>
                <a:srgbClr val="000000"/>
              </a:solidFill>
              <a:latin typeface="Arial"/>
            </a:endParaRPr>
          </a:p>
          <a:p>
            <a:pPr marL="461160" indent="0">
              <a:lnSpc>
                <a:spcPct val="100000"/>
              </a:lnSpc>
              <a:spcAft>
                <a:spcPts val="1060"/>
              </a:spcAft>
              <a:buNone/>
              <a:tabLst>
                <a:tab algn="l" pos="0"/>
              </a:tabLst>
            </a:pPr>
            <a:endParaRPr b="0" lang="en-US" sz="2400" spc="-1" strike="noStrike">
              <a:solidFill>
                <a:srgbClr val="000000"/>
              </a:solidFill>
              <a:latin typeface="Arial"/>
            </a:endParaRPr>
          </a:p>
        </p:txBody>
      </p:sp>
      <p:sp>
        <p:nvSpPr>
          <p:cNvPr id="5" name="PlaceHolder 4"/>
          <p:cNvSpPr>
            <a:spLocks noGrp="1"/>
          </p:cNvSpPr>
          <p:nvPr>
            <p:ph type="sldNum" idx="2"/>
          </p:nvPr>
        </p:nvSpPr>
        <p:spPr/>
        <p:txBody>
          <a:bodyPr/>
          <a:p>
            <a:fld id="{75D3D87D-20FF-4AC2-AD0A-769B8FE14CDA}"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1620000" y="216000"/>
            <a:ext cx="8098200" cy="93420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DTR ISR</a:t>
            </a:r>
            <a:endParaRPr b="0" lang="en-US" sz="4400" spc="-1" strike="noStrike">
              <a:solidFill>
                <a:srgbClr val="000000"/>
              </a:solidFill>
              <a:latin typeface="Arial"/>
            </a:endParaRPr>
          </a:p>
        </p:txBody>
      </p:sp>
      <p:sp>
        <p:nvSpPr>
          <p:cNvPr id="176" name="PlaceHolder 2"/>
          <p:cNvSpPr>
            <a:spLocks noGrp="1"/>
          </p:cNvSpPr>
          <p:nvPr>
            <p:ph/>
          </p:nvPr>
        </p:nvSpPr>
        <p:spPr>
          <a:xfrm>
            <a:off x="5572080" y="1368000"/>
            <a:ext cx="4094280" cy="3286440"/>
          </a:xfrm>
          <a:prstGeom prst="rect">
            <a:avLst/>
          </a:prstGeom>
          <a:noFill/>
          <a:ln w="0">
            <a:noFill/>
          </a:ln>
        </p:spPr>
        <p:txBody>
          <a:bodyPr lIns="0" rIns="0" tIns="0" bIns="0" anchor="t">
            <a:normAutofit fontScale="52000"/>
          </a:bodyPr>
          <a:p>
            <a:pPr marL="449280" indent="-33696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Beginning</a:t>
            </a:r>
            <a:endParaRPr b="0" lang="en-US" sz="32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2800" spc="-1" strike="noStrike">
                <a:solidFill>
                  <a:srgbClr val="000000"/>
                </a:solidFill>
                <a:latin typeface="Arial"/>
              </a:rPr>
              <a:t>cycle_counter++</a:t>
            </a:r>
            <a:endParaRPr b="0" lang="en-US" sz="28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2800" spc="-1" strike="noStrike">
                <a:solidFill>
                  <a:srgbClr val="000000"/>
                </a:solidFill>
                <a:latin typeface="Arial"/>
              </a:rPr>
              <a:t>timer_base_ticks += active_period_ticks</a:t>
            </a:r>
            <a:endParaRPr b="0" lang="en-US" sz="28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2800" spc="-1" strike="noStrike">
                <a:solidFill>
                  <a:srgbClr val="000000"/>
                </a:solidFill>
                <a:latin typeface="Arial"/>
              </a:rPr>
              <a:t>active_period_ticks = shadow_period_ticks</a:t>
            </a:r>
            <a:endParaRPr b="0" lang="en-US" sz="2800" spc="-1" strike="noStrike">
              <a:solidFill>
                <a:srgbClr val="000000"/>
              </a:solidFill>
              <a:latin typeface="Arial"/>
            </a:endParaRPr>
          </a:p>
          <a:p>
            <a:pPr marL="449280" indent="-336960">
              <a:lnSpc>
                <a:spcPct val="100000"/>
              </a:lnSpc>
              <a:spcBef>
                <a:spcPts val="1134"/>
              </a:spcBef>
              <a:buClr>
                <a:srgbClr val="000000"/>
              </a:buClr>
              <a:buSzPct val="45000"/>
              <a:buFont typeface="Wingdings" charset="2"/>
              <a:buChar char=""/>
            </a:pPr>
            <a:r>
              <a:rPr b="0" lang="en-US" sz="3200" spc="-1" strike="noStrike">
                <a:solidFill>
                  <a:srgbClr val="000000"/>
                </a:solidFill>
                <a:latin typeface="Arial"/>
                <a:ea typeface="Microsoft YaHei"/>
              </a:rPr>
              <a:t>Middle: </a:t>
            </a:r>
            <a:r>
              <a:rPr b="0" lang="en-US" sz="3200" spc="-1" strike="noStrike" u="sng">
                <a:solidFill>
                  <a:srgbClr val="000000"/>
                </a:solidFill>
                <a:uFillTx/>
                <a:latin typeface="Arial"/>
                <a:ea typeface="Microsoft YaHei"/>
              </a:rPr>
              <a:t>adjusts phase of TEZn+3 (!)</a:t>
            </a:r>
            <a:endParaRPr b="0" lang="en-US" sz="32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3200" spc="-1" strike="noStrike">
                <a:solidFill>
                  <a:srgbClr val="000000"/>
                </a:solidFill>
                <a:latin typeface="Arial"/>
                <a:ea typeface="Microsoft YaHei"/>
              </a:rPr>
              <a:t>Dithering or alignment =&gt; </a:t>
            </a:r>
            <a:r>
              <a:rPr b="1" lang="en-US" sz="2800" spc="-1" strike="noStrike">
                <a:solidFill>
                  <a:srgbClr val="158466"/>
                </a:solidFill>
                <a:latin typeface="Arial"/>
                <a:ea typeface="Microsoft YaHei"/>
              </a:rPr>
              <a:t>period_ticks</a:t>
            </a:r>
            <a:endParaRPr b="0" lang="en-US" sz="2800" spc="-1" strike="noStrike">
              <a:solidFill>
                <a:srgbClr val="000000"/>
              </a:solidFill>
              <a:latin typeface="Arial"/>
            </a:endParaRPr>
          </a:p>
          <a:p>
            <a:pPr marL="449280" indent="-33696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ea typeface="Microsoft YaHei"/>
              </a:rPr>
              <a:t>Ending</a:t>
            </a:r>
            <a:endParaRPr b="0" lang="en-US" sz="32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2800" spc="-1" strike="noStrike">
                <a:solidFill>
                  <a:srgbClr val="000000"/>
                </a:solidFill>
                <a:latin typeface="Arial"/>
                <a:ea typeface="Microsoft YaHei"/>
              </a:rPr>
              <a:t>shadow_period_ticks = </a:t>
            </a:r>
            <a:r>
              <a:rPr b="1" lang="en-US" sz="2800" spc="-1" strike="noStrike">
                <a:solidFill>
                  <a:srgbClr val="158466"/>
                </a:solidFill>
                <a:latin typeface="Arial"/>
                <a:ea typeface="Microsoft YaHei"/>
              </a:rPr>
              <a:t>period_ticks</a:t>
            </a:r>
            <a:endParaRPr b="0" lang="en-US" sz="2800" spc="-1" strike="noStrike">
              <a:solidFill>
                <a:srgbClr val="000000"/>
              </a:solidFill>
              <a:latin typeface="Arial"/>
            </a:endParaRPr>
          </a:p>
          <a:p>
            <a:pPr lvl="1" marL="898560" indent="-336960">
              <a:lnSpc>
                <a:spcPct val="100000"/>
              </a:lnSpc>
              <a:spcBef>
                <a:spcPts val="1134"/>
              </a:spcBef>
              <a:buClr>
                <a:srgbClr val="000000"/>
              </a:buClr>
              <a:buSzPct val="75000"/>
              <a:buFont typeface="Symbol"/>
              <a:buChar char=""/>
            </a:pPr>
            <a:r>
              <a:rPr b="0" lang="en-US" sz="2800" spc="-1" strike="noStrike">
                <a:solidFill>
                  <a:srgbClr val="000000"/>
                </a:solidFill>
                <a:latin typeface="Arial"/>
                <a:ea typeface="Microsoft YaHei"/>
              </a:rPr>
              <a:t>shadow_period_ticks =&gt; MCPWM HW</a:t>
            </a:r>
            <a:endParaRPr b="0" lang="en-US" sz="2800" spc="-1" strike="noStrike">
              <a:solidFill>
                <a:srgbClr val="000000"/>
              </a:solidFill>
              <a:latin typeface="Arial"/>
            </a:endParaRPr>
          </a:p>
        </p:txBody>
      </p:sp>
      <p:sp>
        <p:nvSpPr>
          <p:cNvPr id="177" name="PlaceHolder 3"/>
          <p:cNvSpPr>
            <a:spLocks noGrp="1"/>
          </p:cNvSpPr>
          <p:nvPr>
            <p:ph/>
          </p:nvPr>
        </p:nvSpPr>
        <p:spPr>
          <a:xfrm>
            <a:off x="1620000" y="1368000"/>
            <a:ext cx="3865680" cy="3286440"/>
          </a:xfrm>
          <a:prstGeom prst="rect">
            <a:avLst/>
          </a:prstGeom>
          <a:noFill/>
          <a:ln w="0">
            <a:noFill/>
          </a:ln>
        </p:spPr>
        <p:txBody>
          <a:bodyPr lIns="0" rIns="0" tIns="0" bIns="0" anchor="t">
            <a:normAutofit fontScale="53000"/>
          </a:bodyPr>
          <a:p>
            <a:pPr marL="508320" indent="-3816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Initial values (MCPWM)</a:t>
            </a:r>
            <a:endParaRPr b="0" lang="en-US" sz="3200" spc="-1" strike="noStrike">
              <a:solidFill>
                <a:srgbClr val="000000"/>
              </a:solidFill>
              <a:latin typeface="Arial"/>
            </a:endParaRPr>
          </a:p>
          <a:p>
            <a:pPr lvl="1" marL="1017360" indent="-381600">
              <a:lnSpc>
                <a:spcPct val="100000"/>
              </a:lnSpc>
              <a:spcBef>
                <a:spcPts val="1134"/>
              </a:spcBef>
              <a:buClr>
                <a:srgbClr val="000000"/>
              </a:buClr>
              <a:buSzPct val="75000"/>
              <a:buFont typeface="Symbol"/>
              <a:buChar char=""/>
            </a:pPr>
            <a:r>
              <a:rPr b="0" lang="en-US" sz="2800" spc="-1" strike="noStrike">
                <a:solidFill>
                  <a:srgbClr val="000000"/>
                </a:solidFill>
                <a:latin typeface="Arial"/>
              </a:rPr>
              <a:t>cycle_counter = -1</a:t>
            </a:r>
            <a:endParaRPr b="0" lang="en-US" sz="2800" spc="-1" strike="noStrike">
              <a:solidFill>
                <a:srgbClr val="000000"/>
              </a:solidFill>
              <a:latin typeface="Arial"/>
            </a:endParaRPr>
          </a:p>
          <a:p>
            <a:pPr lvl="1" marL="1017360" indent="-381600">
              <a:lnSpc>
                <a:spcPct val="100000"/>
              </a:lnSpc>
              <a:spcBef>
                <a:spcPts val="1134"/>
              </a:spcBef>
              <a:buClr>
                <a:srgbClr val="000000"/>
              </a:buClr>
              <a:buSzPct val="75000"/>
              <a:buFont typeface="Symbol"/>
              <a:buChar char=""/>
            </a:pPr>
            <a:r>
              <a:rPr b="0" lang="en-US" sz="2800" spc="-1" strike="noStrike">
                <a:solidFill>
                  <a:srgbClr val="000000"/>
                </a:solidFill>
                <a:latin typeface="Arial"/>
              </a:rPr>
              <a:t>active_period_ticks = 0</a:t>
            </a:r>
            <a:endParaRPr b="0" lang="en-US" sz="2800" spc="-1" strike="noStrike">
              <a:solidFill>
                <a:srgbClr val="000000"/>
              </a:solidFill>
              <a:latin typeface="Arial"/>
            </a:endParaRPr>
          </a:p>
          <a:p>
            <a:pPr lvl="1" marL="1017360" indent="-381600">
              <a:lnSpc>
                <a:spcPct val="100000"/>
              </a:lnSpc>
              <a:spcBef>
                <a:spcPts val="1134"/>
              </a:spcBef>
              <a:buClr>
                <a:srgbClr val="000000"/>
              </a:buClr>
              <a:buSzPct val="75000"/>
              <a:buFont typeface="Symbol"/>
              <a:buChar char=""/>
            </a:pPr>
            <a:r>
              <a:rPr b="0" lang="en-US" sz="2800" spc="-1" strike="noStrike">
                <a:solidFill>
                  <a:srgbClr val="000000"/>
                </a:solidFill>
                <a:latin typeface="Arial"/>
              </a:rPr>
              <a:t>period_ticks = shadow_period_ticks = TIMER_PERIOD_TICKS</a:t>
            </a:r>
            <a:endParaRPr b="0" lang="en-US" sz="2800" spc="-1" strike="noStrike">
              <a:solidFill>
                <a:srgbClr val="000000"/>
              </a:solidFill>
              <a:latin typeface="Arial"/>
            </a:endParaRPr>
          </a:p>
          <a:p>
            <a:pPr marL="508320" indent="-3816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ea typeface="Microsoft YaHei"/>
              </a:rPr>
              <a:t>ISR state at middle: @ TEZ</a:t>
            </a:r>
            <a:r>
              <a:rPr b="0" lang="en-US" sz="2800" spc="-1" strike="noStrike">
                <a:solidFill>
                  <a:srgbClr val="000000"/>
                </a:solidFill>
                <a:latin typeface="Arial"/>
                <a:ea typeface="Microsoft YaHei"/>
              </a:rPr>
              <a:t>n+1</a:t>
            </a:r>
            <a:endParaRPr b="0" lang="en-US" sz="2800" spc="-1" strike="noStrike">
              <a:solidFill>
                <a:srgbClr val="000000"/>
              </a:solidFill>
              <a:latin typeface="Arial"/>
            </a:endParaRPr>
          </a:p>
          <a:p>
            <a:pPr marL="508320" indent="-3816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ea typeface="Microsoft YaHei"/>
              </a:rPr>
              <a:t>Same ISR beginning and ending</a:t>
            </a:r>
            <a:endParaRPr b="0" lang="en-US" sz="3200" spc="-1" strike="noStrike">
              <a:solidFill>
                <a:srgbClr val="000000"/>
              </a:solidFill>
              <a:latin typeface="Arial"/>
            </a:endParaRPr>
          </a:p>
          <a:p>
            <a:pPr marL="508320" indent="-3816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ea typeface="Microsoft YaHei"/>
              </a:rPr>
              <a:t>Impact of shadow reg</a:t>
            </a:r>
            <a:endParaRPr b="0" lang="en-US" sz="3200" spc="-1" strike="noStrike">
              <a:solidFill>
                <a:srgbClr val="000000"/>
              </a:solidFill>
              <a:latin typeface="Arial"/>
            </a:endParaRPr>
          </a:p>
          <a:p>
            <a:pPr lvl="1" marL="1017360" indent="-381600">
              <a:lnSpc>
                <a:spcPct val="100000"/>
              </a:lnSpc>
              <a:spcBef>
                <a:spcPts val="1134"/>
              </a:spcBef>
              <a:buClr>
                <a:srgbClr val="000000"/>
              </a:buClr>
              <a:buSzPct val="75000"/>
              <a:buFont typeface="Symbol"/>
              <a:buChar char=""/>
            </a:pPr>
            <a:r>
              <a:rPr b="0" lang="en-US" sz="2800" spc="-1" strike="noStrike">
                <a:solidFill>
                  <a:srgbClr val="000000"/>
                </a:solidFill>
                <a:latin typeface="Arial"/>
                <a:ea typeface="Microsoft YaHei"/>
              </a:rPr>
              <a:t>Set now at TEZn+1</a:t>
            </a:r>
            <a:endParaRPr b="0" lang="en-US" sz="2800" spc="-1" strike="noStrike">
              <a:solidFill>
                <a:srgbClr val="000000"/>
              </a:solidFill>
              <a:latin typeface="Arial"/>
            </a:endParaRPr>
          </a:p>
          <a:p>
            <a:pPr lvl="1" marL="1017360" indent="-381600">
              <a:lnSpc>
                <a:spcPct val="100000"/>
              </a:lnSpc>
              <a:spcBef>
                <a:spcPts val="1134"/>
              </a:spcBef>
              <a:buClr>
                <a:srgbClr val="000000"/>
              </a:buClr>
              <a:buSzPct val="75000"/>
              <a:buFont typeface="Symbol"/>
              <a:buChar char=""/>
            </a:pPr>
            <a:r>
              <a:rPr b="0" lang="en-US" sz="2800" spc="-1" strike="noStrike">
                <a:solidFill>
                  <a:srgbClr val="000000"/>
                </a:solidFill>
                <a:latin typeface="Arial"/>
                <a:ea typeface="Microsoft YaHei"/>
              </a:rPr>
              <a:t>Affects phase of TEZn+3</a:t>
            </a:r>
            <a:endParaRPr b="0" lang="en-US" sz="2800" spc="-1" strike="noStrike">
              <a:solidFill>
                <a:srgbClr val="000000"/>
              </a:solidFill>
              <a:latin typeface="Arial"/>
            </a:endParaRPr>
          </a:p>
        </p:txBody>
      </p:sp>
      <p:sp>
        <p:nvSpPr>
          <p:cNvPr id="5" name="PlaceHolder 4"/>
          <p:cNvSpPr>
            <a:spLocks noGrp="1"/>
          </p:cNvSpPr>
          <p:nvPr>
            <p:ph type="sldNum" idx="2"/>
          </p:nvPr>
        </p:nvSpPr>
        <p:spPr/>
        <p:txBody>
          <a:bodyPr/>
          <a:p>
            <a:fld id="{AE43100B-53E2-4A70-A9B4-F51F62F88F06}"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DTR: Alignment</a:t>
            </a:r>
            <a:endParaRPr b="0" lang="en-US" sz="3300" spc="-1" strike="noStrike">
              <a:solidFill>
                <a:srgbClr val="000000"/>
              </a:solidFill>
              <a:latin typeface="Arial"/>
            </a:endParaRPr>
          </a:p>
        </p:txBody>
      </p:sp>
      <p:sp>
        <p:nvSpPr>
          <p:cNvPr id="179"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73000"/>
          </a:bodyPr>
          <a:p>
            <a:pPr marL="457200" indent="-3430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DTC tells DTR to align, targeting </a:t>
            </a:r>
            <a:r>
              <a:rPr b="0" lang="en-US" sz="2400" spc="-1" strike="noStrike" u="sng">
                <a:solidFill>
                  <a:srgbClr val="050505"/>
                </a:solidFill>
                <a:uFillTx/>
                <a:latin typeface="Arial"/>
              </a:rPr>
              <a:t>next TEZ</a:t>
            </a:r>
            <a:endParaRPr b="0" lang="en-US" sz="2400" spc="-1" strike="noStrike">
              <a:solidFill>
                <a:srgbClr val="000000"/>
              </a:solidFill>
              <a:latin typeface="Arial"/>
            </a:endParaRPr>
          </a:p>
          <a:p>
            <a:pPr marL="457200" indent="-3430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Next TEZ should happen on </a:t>
            </a:r>
            <a:r>
              <a:rPr b="1" lang="en-US" sz="2400" spc="-1" strike="noStrike">
                <a:solidFill>
                  <a:srgbClr val="ffbf00"/>
                </a:solidFill>
                <a:latin typeface="Arial"/>
              </a:rPr>
              <a:t>aligned_local_ticks</a:t>
            </a:r>
            <a:endParaRPr b="0" lang="en-US" sz="2400" spc="-1" strike="noStrike">
              <a:solidFill>
                <a:srgbClr val="000000"/>
              </a:solidFill>
              <a:latin typeface="Arial"/>
            </a:endParaRPr>
          </a:p>
          <a:p>
            <a:pPr lvl="1" marL="915120" indent="-343080">
              <a:lnSpc>
                <a:spcPct val="100000"/>
              </a:lnSpc>
              <a:spcAft>
                <a:spcPts val="848"/>
              </a:spcAft>
              <a:buClr>
                <a:srgbClr val="000000"/>
              </a:buClr>
              <a:buSzPct val="40000"/>
              <a:buFont typeface="Wingdings" charset="2"/>
              <a:buChar char=""/>
            </a:pPr>
            <a:r>
              <a:rPr b="0" lang="en-US" sz="2100" spc="-1" strike="noStrike">
                <a:solidFill>
                  <a:srgbClr val="158466"/>
                </a:solidFill>
                <a:latin typeface="Arial"/>
              </a:rPr>
              <a:t>period_ticks</a:t>
            </a:r>
            <a:r>
              <a:rPr b="0" lang="en-US" sz="2100" spc="-1" strike="noStrike">
                <a:solidFill>
                  <a:srgbClr val="050505"/>
                </a:solidFill>
                <a:latin typeface="Arial"/>
              </a:rPr>
              <a:t> = aligned_period_ticks – timer_base_ticks</a:t>
            </a:r>
            <a:endParaRPr b="0" lang="en-US" sz="2100" spc="-1" strike="noStrike">
              <a:solidFill>
                <a:srgbClr val="000000"/>
              </a:solidFill>
              <a:latin typeface="Arial"/>
            </a:endParaRPr>
          </a:p>
          <a:p>
            <a:pPr lvl="1" marL="915120" indent="-343080">
              <a:lnSpc>
                <a:spcPct val="100000"/>
              </a:lnSpc>
              <a:spcAft>
                <a:spcPts val="848"/>
              </a:spcAft>
              <a:buClr>
                <a:srgbClr val="000000"/>
              </a:buClr>
              <a:buSzPct val="40000"/>
              <a:buFont typeface="Wingdings" charset="2"/>
              <a:buChar char=""/>
            </a:pPr>
            <a:r>
              <a:rPr b="0" lang="en-US" sz="2100" spc="-1" strike="noStrike">
                <a:solidFill>
                  <a:srgbClr val="158466"/>
                </a:solidFill>
                <a:latin typeface="Arial"/>
              </a:rPr>
              <a:t>cycle_counter </a:t>
            </a:r>
            <a:r>
              <a:rPr b="0" lang="en-US" sz="2100" spc="-1" strike="noStrike">
                <a:solidFill>
                  <a:srgbClr val="050505"/>
                </a:solidFill>
                <a:latin typeface="Arial"/>
              </a:rPr>
              <a:t>= </a:t>
            </a:r>
            <a:r>
              <a:rPr b="0" lang="en-US" sz="2100" spc="-1" strike="noStrike">
                <a:solidFill>
                  <a:srgbClr val="ffbf00"/>
                </a:solidFill>
                <a:latin typeface="Arial"/>
              </a:rPr>
              <a:t>aligned_cycle_counter</a:t>
            </a:r>
            <a:r>
              <a:rPr b="0" lang="en-US" sz="2100" spc="-1" strike="noStrike">
                <a:solidFill>
                  <a:srgbClr val="050505"/>
                </a:solidFill>
                <a:latin typeface="Arial"/>
              </a:rPr>
              <a:t> + 1</a:t>
            </a:r>
            <a:endParaRPr b="0" lang="en-US" sz="2100" spc="-1" strike="noStrike">
              <a:solidFill>
                <a:srgbClr val="000000"/>
              </a:solidFill>
              <a:latin typeface="Arial"/>
            </a:endParaRPr>
          </a:p>
          <a:p>
            <a:pPr lvl="1" marL="915120" indent="-34308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If math ok:</a:t>
            </a:r>
            <a:endParaRPr b="0" lang="en-US" sz="2100" spc="-1" strike="noStrike">
              <a:solidFill>
                <a:srgbClr val="000000"/>
              </a:solidFill>
              <a:latin typeface="Arial"/>
            </a:endParaRPr>
          </a:p>
          <a:p>
            <a:pPr lvl="2" marL="1373040" indent="-304920">
              <a:lnSpc>
                <a:spcPct val="100000"/>
              </a:lnSpc>
              <a:spcAft>
                <a:spcPts val="632"/>
              </a:spcAft>
              <a:buClr>
                <a:srgbClr val="000000"/>
              </a:buClr>
              <a:buSzPct val="40000"/>
              <a:buFont typeface="Wingdings" charset="2"/>
              <a:buChar char=""/>
            </a:pPr>
            <a:r>
              <a:rPr b="0" lang="en-US" sz="1800" spc="-1" strike="noStrike">
                <a:solidFill>
                  <a:srgbClr val="050505"/>
                </a:solidFill>
                <a:highlight>
                  <a:srgbClr val="ffff00"/>
                </a:highlight>
                <a:latin typeface="Arial"/>
              </a:rPr>
              <a:t>period_ticks ~ TIMER_PERIOD_TICKS</a:t>
            </a:r>
            <a:endParaRPr b="0" lang="en-US" sz="1800" spc="-1" strike="noStrike">
              <a:solidFill>
                <a:srgbClr val="000000"/>
              </a:solidFill>
              <a:latin typeface="Arial"/>
            </a:endParaRPr>
          </a:p>
          <a:p>
            <a:pPr lvl="2" marL="1373040" indent="-304920">
              <a:lnSpc>
                <a:spcPct val="100000"/>
              </a:lnSpc>
              <a:spcAft>
                <a:spcPts val="632"/>
              </a:spcAft>
              <a:buClr>
                <a:srgbClr val="000000"/>
              </a:buClr>
              <a:buSzPct val="40000"/>
              <a:buFont typeface="Wingdings" charset="2"/>
              <a:buChar char=""/>
            </a:pPr>
            <a:r>
              <a:rPr b="0" lang="en-US" sz="1800" spc="-1" strike="noStrike">
                <a:solidFill>
                  <a:srgbClr val="050505"/>
                </a:solidFill>
                <a:highlight>
                  <a:srgbClr val="ffff00"/>
                </a:highlight>
                <a:latin typeface="Arial"/>
              </a:rPr>
              <a:t>cycle_counter = old_cycle_counter</a:t>
            </a:r>
            <a:endParaRPr b="0" lang="en-US" sz="1800" spc="-1" strike="noStrike">
              <a:solidFill>
                <a:srgbClr val="000000"/>
              </a:solidFill>
              <a:latin typeface="Arial"/>
            </a:endParaRPr>
          </a:p>
          <a:p>
            <a:pPr marL="457200" indent="-3430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If period_ticks is too short, have to </a:t>
            </a:r>
            <a:r>
              <a:rPr b="0" lang="en-US" sz="2400" spc="-1" strike="noStrike" u="sng">
                <a:solidFill>
                  <a:srgbClr val="050505"/>
                </a:solidFill>
                <a:uFillTx/>
                <a:latin typeface="Arial"/>
              </a:rPr>
              <a:t>roll forward</a:t>
            </a:r>
            <a:r>
              <a:rPr b="0" lang="en-US" sz="2400" spc="-1" strike="noStrike">
                <a:solidFill>
                  <a:srgbClr val="050505"/>
                </a:solidFill>
                <a:latin typeface="Arial"/>
              </a:rPr>
              <a:t> (only happens on initial align)</a:t>
            </a:r>
            <a:endParaRPr b="0" lang="en-US" sz="2400" spc="-1" strike="noStrike">
              <a:solidFill>
                <a:srgbClr val="000000"/>
              </a:solidFill>
              <a:latin typeface="Arial"/>
            </a:endParaRPr>
          </a:p>
          <a:p>
            <a:pPr marL="457200" indent="-34308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Use adjusted FP16 base period for future cycles</a:t>
            </a:r>
            <a:endParaRPr b="0" lang="en-US" sz="2400" spc="-1" strike="noStrike">
              <a:solidFill>
                <a:srgbClr val="000000"/>
              </a:solidFill>
              <a:latin typeface="Arial"/>
            </a:endParaRPr>
          </a:p>
          <a:p>
            <a:pPr lvl="1" marL="915120" indent="-343080">
              <a:lnSpc>
                <a:spcPct val="100000"/>
              </a:lnSpc>
              <a:spcAft>
                <a:spcPts val="848"/>
              </a:spcAft>
              <a:buClr>
                <a:srgbClr val="000000"/>
              </a:buClr>
              <a:buSzPct val="40000"/>
              <a:buFont typeface="Wingdings" charset="2"/>
              <a:buChar char=""/>
            </a:pPr>
            <a:r>
              <a:rPr b="0" lang="en-US" sz="2100" spc="-1" strike="noStrike">
                <a:solidFill>
                  <a:srgbClr val="158466"/>
                </a:solidFill>
                <a:latin typeface="Arial"/>
              </a:rPr>
              <a:t>base_period_fp16</a:t>
            </a:r>
            <a:r>
              <a:rPr b="0" lang="en-US" sz="2100" spc="-1" strike="noStrike">
                <a:solidFill>
                  <a:srgbClr val="050505"/>
                </a:solidFill>
                <a:latin typeface="Arial"/>
              </a:rPr>
              <a:t> = </a:t>
            </a:r>
            <a:r>
              <a:rPr b="0" lang="en-US" sz="2100" spc="-1" strike="noStrike">
                <a:solidFill>
                  <a:srgbClr val="ffbf00"/>
                </a:solidFill>
                <a:latin typeface="Arial"/>
              </a:rPr>
              <a:t>aligned_base_period_fp16</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5B7C5591-2953-42BB-9DF0-6BA362FD3396}"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DTR: Feedback to DTC</a:t>
            </a:r>
            <a:endParaRPr b="0" lang="en-US" sz="3300" spc="-1" strike="noStrike">
              <a:solidFill>
                <a:srgbClr val="000000"/>
              </a:solidFill>
              <a:latin typeface="Arial"/>
            </a:endParaRPr>
          </a:p>
        </p:txBody>
      </p:sp>
      <p:sp>
        <p:nvSpPr>
          <p:cNvPr id="181"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Signal TZE =&gt; DTC sets alignment close to TZE</a:t>
            </a:r>
            <a:endParaRPr b="0" lang="en-US" sz="2400" spc="-1" strike="noStrike">
              <a:solidFill>
                <a:srgbClr val="000000"/>
              </a:solidFill>
              <a:latin typeface="Arial"/>
            </a:endParaRPr>
          </a:p>
          <a:p>
            <a:pPr marL="432000" indent="-324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Results of last alignment handling</a:t>
            </a:r>
            <a:endParaRPr b="0" lang="en-US" sz="24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cycle_counter (=0)</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cycle_counter – old_cycle_counter</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period_ticks</a:t>
            </a:r>
            <a:endParaRPr b="0" lang="en-US" sz="2100" spc="-1" strike="noStrike">
              <a:solidFill>
                <a:srgbClr val="000000"/>
              </a:solidFill>
              <a:latin typeface="Arial"/>
            </a:endParaRPr>
          </a:p>
          <a:p>
            <a:pPr lvl="1" marL="864000" indent="-324000">
              <a:lnSpc>
                <a:spcPct val="100000"/>
              </a:lnSpc>
              <a:spcAft>
                <a:spcPts val="848"/>
              </a:spcAft>
              <a:buClr>
                <a:srgbClr val="000000"/>
              </a:buClr>
              <a:buSzPct val="40000"/>
              <a:buFont typeface="Wingdings" charset="2"/>
              <a:buChar char=""/>
            </a:pPr>
            <a:r>
              <a:rPr b="0" lang="en-US" sz="2100" spc="-1" strike="noStrike">
                <a:solidFill>
                  <a:srgbClr val="050505"/>
                </a:solidFill>
                <a:latin typeface="Arial"/>
              </a:rPr>
              <a:t>period_ticks – old_period_ticks (~0)</a:t>
            </a:r>
            <a:endParaRPr b="0" lang="en-US" sz="2100" spc="-1" strike="noStrike">
              <a:solidFill>
                <a:srgbClr val="000000"/>
              </a:solidFill>
              <a:latin typeface="Arial"/>
            </a:endParaRPr>
          </a:p>
        </p:txBody>
      </p:sp>
      <p:sp>
        <p:nvSpPr>
          <p:cNvPr id="4" name="PlaceHolder 3"/>
          <p:cNvSpPr>
            <a:spLocks noGrp="1"/>
          </p:cNvSpPr>
          <p:nvPr>
            <p:ph type="sldNum" idx="2"/>
          </p:nvPr>
        </p:nvSpPr>
        <p:spPr/>
        <p:txBody>
          <a:bodyPr/>
          <a:p>
            <a:fld id="{458A15C0-37A0-40D3-8A35-051FCC4BBB67}"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DEMO</a:t>
            </a:r>
            <a:endParaRPr b="0" lang="en-US" sz="3300" spc="-1" strike="noStrike">
              <a:solidFill>
                <a:srgbClr val="000000"/>
              </a:solidFill>
              <a:latin typeface="Arial"/>
            </a:endParaRPr>
          </a:p>
        </p:txBody>
      </p:sp>
      <p:sp>
        <p:nvSpPr>
          <p:cNvPr id="183"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82000"/>
          </a:bodyPr>
          <a:p>
            <a:pPr marL="518040" indent="-3884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Master</a:t>
            </a:r>
            <a:endParaRPr b="0" lang="en-US" sz="2400" spc="-1" strike="noStrike">
              <a:solidFill>
                <a:srgbClr val="000000"/>
              </a:solidFill>
              <a:latin typeface="Arial"/>
            </a:endParaRPr>
          </a:p>
          <a:p>
            <a:pPr lvl="1" marL="1036440" indent="-388440">
              <a:lnSpc>
                <a:spcPct val="100000"/>
              </a:lnSpc>
              <a:spcBef>
                <a:spcPts val="1191"/>
              </a:spcBef>
              <a:spcAft>
                <a:spcPts val="992"/>
              </a:spcAft>
              <a:buClr>
                <a:srgbClr val="000000"/>
              </a:buClr>
              <a:buSzPct val="75000"/>
              <a:buFont typeface="Symbol"/>
              <a:buChar char=""/>
            </a:pPr>
            <a:r>
              <a:rPr b="0" lang="en-US" sz="2400" spc="-1" strike="noStrike">
                <a:solidFill>
                  <a:srgbClr val="050505"/>
                </a:solidFill>
                <a:latin typeface="Arial"/>
              </a:rPr>
              <a:t>Seeed Studio XIAO ESP32 S3 Sense</a:t>
            </a:r>
            <a:endParaRPr b="0" lang="en-US" sz="2400" spc="-1" strike="noStrike">
              <a:solidFill>
                <a:srgbClr val="000000"/>
              </a:solidFill>
              <a:latin typeface="Arial"/>
            </a:endParaRPr>
          </a:p>
          <a:p>
            <a:pPr lvl="1" marL="1036440" indent="-388440">
              <a:lnSpc>
                <a:spcPct val="100000"/>
              </a:lnSpc>
              <a:spcBef>
                <a:spcPts val="1191"/>
              </a:spcBef>
              <a:spcAft>
                <a:spcPts val="992"/>
              </a:spcAft>
              <a:buClr>
                <a:srgbClr val="000000"/>
              </a:buClr>
              <a:buSzPct val="75000"/>
              <a:buFont typeface="Symbol"/>
              <a:buChar char=""/>
            </a:pPr>
            <a:r>
              <a:rPr b="0" lang="en-US" sz="2400" spc="-1" strike="noStrike">
                <a:solidFill>
                  <a:srgbClr val="050505"/>
                </a:solidFill>
                <a:latin typeface="Arial"/>
              </a:rPr>
              <a:t>Built in Yellow LED @ GPIO21</a:t>
            </a:r>
            <a:endParaRPr b="0" lang="en-US" sz="2400" spc="-1" strike="noStrike">
              <a:solidFill>
                <a:srgbClr val="000000"/>
              </a:solidFill>
              <a:latin typeface="Arial"/>
            </a:endParaRPr>
          </a:p>
          <a:p>
            <a:pPr marL="518040" indent="-3884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Slaves</a:t>
            </a:r>
            <a:endParaRPr b="0" lang="en-US" sz="2400" spc="-1" strike="noStrike">
              <a:solidFill>
                <a:srgbClr val="000000"/>
              </a:solidFill>
              <a:latin typeface="Arial"/>
            </a:endParaRPr>
          </a:p>
          <a:p>
            <a:pPr lvl="1" marL="1036440" indent="-388440">
              <a:lnSpc>
                <a:spcPct val="100000"/>
              </a:lnSpc>
              <a:spcBef>
                <a:spcPts val="1191"/>
              </a:spcBef>
              <a:spcAft>
                <a:spcPts val="992"/>
              </a:spcAft>
              <a:buClr>
                <a:srgbClr val="000000"/>
              </a:buClr>
              <a:buSzPct val="75000"/>
              <a:buFont typeface="Symbol"/>
              <a:buChar char=""/>
            </a:pPr>
            <a:r>
              <a:rPr b="0" lang="en-US" sz="2400" spc="-1" strike="noStrike">
                <a:solidFill>
                  <a:srgbClr val="050505"/>
                </a:solidFill>
                <a:latin typeface="Arial"/>
              </a:rPr>
              <a:t>2x Waveshare ESP32-S3-LCD-1.47</a:t>
            </a:r>
            <a:endParaRPr b="0" lang="en-US" sz="2400" spc="-1" strike="noStrike">
              <a:solidFill>
                <a:srgbClr val="000000"/>
              </a:solidFill>
              <a:latin typeface="Arial"/>
            </a:endParaRPr>
          </a:p>
          <a:p>
            <a:pPr lvl="1" marL="1036440" indent="-388440">
              <a:lnSpc>
                <a:spcPct val="100000"/>
              </a:lnSpc>
              <a:spcBef>
                <a:spcPts val="1191"/>
              </a:spcBef>
              <a:spcAft>
                <a:spcPts val="992"/>
              </a:spcAft>
              <a:buClr>
                <a:srgbClr val="000000"/>
              </a:buClr>
              <a:buSzPct val="75000"/>
              <a:buFont typeface="Symbol"/>
              <a:buChar char=""/>
            </a:pPr>
            <a:r>
              <a:rPr b="0" lang="en-US" sz="2400" spc="-1" strike="noStrike">
                <a:solidFill>
                  <a:srgbClr val="050505"/>
                </a:solidFill>
                <a:latin typeface="Arial"/>
              </a:rPr>
              <a:t>Green LED tied to VDD @ GPIO1</a:t>
            </a:r>
            <a:endParaRPr b="0" lang="en-US" sz="2400" spc="-1" strike="noStrike">
              <a:solidFill>
                <a:srgbClr val="000000"/>
              </a:solidFill>
              <a:latin typeface="Arial"/>
            </a:endParaRPr>
          </a:p>
          <a:p>
            <a:pPr lvl="1" marL="1036440" indent="-388440">
              <a:lnSpc>
                <a:spcPct val="100000"/>
              </a:lnSpc>
              <a:spcBef>
                <a:spcPts val="1191"/>
              </a:spcBef>
              <a:spcAft>
                <a:spcPts val="992"/>
              </a:spcAft>
              <a:buClr>
                <a:srgbClr val="000000"/>
              </a:buClr>
              <a:buSzPct val="75000"/>
              <a:buFont typeface="Symbol"/>
              <a:buChar char=""/>
            </a:pPr>
            <a:r>
              <a:rPr b="0" lang="en-US" sz="2400" spc="-1" strike="noStrike">
                <a:solidFill>
                  <a:srgbClr val="050505"/>
                </a:solidFill>
                <a:latin typeface="Arial"/>
              </a:rPr>
              <a:t>Picoscope 5204 @ GPIO7</a:t>
            </a:r>
            <a:endParaRPr b="0" lang="en-US" sz="2400" spc="-1" strike="noStrike">
              <a:solidFill>
                <a:srgbClr val="000000"/>
              </a:solidFill>
              <a:latin typeface="Arial"/>
            </a:endParaRPr>
          </a:p>
          <a:p>
            <a:pPr lvl="1" marL="1036440" indent="0">
              <a:lnSpc>
                <a:spcPct val="100000"/>
              </a:lnSpc>
              <a:spcBef>
                <a:spcPts val="1191"/>
              </a:spcBef>
              <a:spcAft>
                <a:spcPts val="992"/>
              </a:spcAft>
              <a:buNone/>
            </a:pPr>
            <a:r>
              <a:rPr b="0" lang="en-US" sz="2400" spc="-1" strike="noStrike">
                <a:solidFill>
                  <a:srgbClr val="050505"/>
                </a:solidFill>
                <a:latin typeface="Arial"/>
              </a:rPr>
              <a:t> </a:t>
            </a:r>
            <a:endParaRPr b="0" lang="en-US" sz="2400" spc="-1" strike="noStrike">
              <a:solidFill>
                <a:srgbClr val="000000"/>
              </a:solidFill>
              <a:latin typeface="Arial"/>
            </a:endParaRPr>
          </a:p>
        </p:txBody>
      </p:sp>
      <p:pic>
        <p:nvPicPr>
          <p:cNvPr id="184" name="" descr=""/>
          <p:cNvPicPr/>
          <p:nvPr/>
        </p:nvPicPr>
        <p:blipFill>
          <a:blip r:embed="rId1"/>
          <a:stretch/>
        </p:blipFill>
        <p:spPr>
          <a:xfrm>
            <a:off x="6172200" y="1337760"/>
            <a:ext cx="3546000" cy="1996560"/>
          </a:xfrm>
          <a:prstGeom prst="rect">
            <a:avLst/>
          </a:prstGeom>
          <a:ln w="0">
            <a:noFill/>
          </a:ln>
        </p:spPr>
      </p:pic>
      <p:sp>
        <p:nvSpPr>
          <p:cNvPr id="4" name="PlaceHolder 3"/>
          <p:cNvSpPr>
            <a:spLocks noGrp="1"/>
          </p:cNvSpPr>
          <p:nvPr>
            <p:ph type="sldNum" idx="2"/>
          </p:nvPr>
        </p:nvSpPr>
        <p:spPr/>
        <p:txBody>
          <a:bodyPr/>
          <a:p>
            <a:fld id="{596CBCB8-7FF2-456A-BA64-4923651C4C9B}"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ubTitle"/>
          </p:nvPr>
        </p:nvSpPr>
        <p:spPr>
          <a:xfrm>
            <a:off x="1620000" y="216000"/>
            <a:ext cx="8098200" cy="4338360"/>
          </a:xfrm>
          <a:prstGeom prst="rect">
            <a:avLst/>
          </a:prstGeom>
          <a:noFill/>
          <a:ln w="0">
            <a:noFill/>
          </a:ln>
        </p:spPr>
        <p:txBody>
          <a:bodyPr lIns="0" rIns="0" tIns="0" bIns="0" anchor="ctr">
            <a:noAutofit/>
          </a:bodyPr>
          <a:p>
            <a:pPr algn="ctr">
              <a:lnSpc>
                <a:spcPct val="100000"/>
              </a:lnSpc>
            </a:pPr>
            <a:r>
              <a:rPr b="0" lang="en-US" sz="3200" spc="-1" strike="noStrike">
                <a:solidFill>
                  <a:srgbClr val="000000"/>
                </a:solidFill>
                <a:latin typeface="Times New Roman"/>
              </a:rPr>
              <a:t>THE END</a:t>
            </a: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5EA5762D-0B41-4AA6-A017-6A24B60AAD68}"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FIXME / TODO</a:t>
            </a:r>
            <a:endParaRPr b="0" lang="en-US" sz="3300" spc="-1" strike="noStrike">
              <a:solidFill>
                <a:srgbClr val="000000"/>
              </a:solidFill>
              <a:latin typeface="Arial"/>
            </a:endParaRPr>
          </a:p>
        </p:txBody>
      </p:sp>
      <p:sp>
        <p:nvSpPr>
          <p:cNvPr id="187" name="PlaceHolder 2"/>
          <p:cNvSpPr>
            <a:spLocks noGrp="1"/>
          </p:cNvSpPr>
          <p:nvPr>
            <p:ph/>
          </p:nvPr>
        </p:nvSpPr>
        <p:spPr>
          <a:xfrm>
            <a:off x="1620000" y="1368000"/>
            <a:ext cx="8098200" cy="3286440"/>
          </a:xfrm>
          <a:prstGeom prst="rect">
            <a:avLst/>
          </a:prstGeom>
          <a:noFill/>
          <a:ln w="0">
            <a:noFill/>
          </a:ln>
        </p:spPr>
        <p:txBody>
          <a:bodyPr lIns="0" rIns="0" tIns="0" bIns="0" anchor="t">
            <a:normAutofit/>
          </a:bodyPr>
          <a:p>
            <a:pPr marL="446760" indent="-3351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add screenshots from notebooks to show MAC/FTM clock unwrapping</a:t>
            </a:r>
            <a:endParaRPr b="0" lang="en-US" sz="2400" spc="-1" strike="noStrike">
              <a:solidFill>
                <a:srgbClr val="000000"/>
              </a:solidFill>
              <a:latin typeface="Arial"/>
            </a:endParaRPr>
          </a:p>
          <a:p>
            <a:pPr marL="446760" indent="-335160">
              <a:lnSpc>
                <a:spcPct val="100000"/>
              </a:lnSpc>
              <a:spcAft>
                <a:spcPts val="1060"/>
              </a:spcAft>
              <a:buClr>
                <a:srgbClr val="000000"/>
              </a:buClr>
              <a:buSzPct val="40000"/>
              <a:buFont typeface="Wingdings" charset="2"/>
              <a:buChar char=""/>
            </a:pPr>
            <a:r>
              <a:rPr b="0" lang="en-US" sz="2400" spc="-1" strike="noStrike">
                <a:solidFill>
                  <a:srgbClr val="050505"/>
                </a:solidFill>
                <a:highlight>
                  <a:srgbClr val="ffff00"/>
                </a:highlight>
                <a:latin typeface="Arial"/>
              </a:rPr>
              <a:t>broadcast master clock to allow arbitrary restarts (now must restart all)</a:t>
            </a:r>
            <a:endParaRPr b="0" lang="en-US" sz="2400" spc="-1" strike="noStrike">
              <a:solidFill>
                <a:srgbClr val="000000"/>
              </a:solidFill>
              <a:latin typeface="Arial"/>
            </a:endParaRPr>
          </a:p>
          <a:p>
            <a:pPr marL="446760" indent="-3351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check for math problems (we mix signed and unsigned variables), reconsider units (ticks, ps, ns) for all vars</a:t>
            </a:r>
            <a:endParaRPr b="0" lang="en-US" sz="2400" spc="-1" strike="noStrike">
              <a:solidFill>
                <a:srgbClr val="000000"/>
              </a:solidFill>
              <a:latin typeface="Arial"/>
            </a:endParaRPr>
          </a:p>
          <a:p>
            <a:pPr marL="446760" indent="-33516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consistent error handling strategy (check current error logs &amp; aborts)</a:t>
            </a:r>
            <a:endParaRPr b="0" lang="en-US" sz="2400" spc="-1" strike="noStrike">
              <a:solidFill>
                <a:srgbClr val="000000"/>
              </a:solidFill>
              <a:latin typeface="Arial"/>
            </a:endParaRPr>
          </a:p>
        </p:txBody>
      </p:sp>
      <p:sp>
        <p:nvSpPr>
          <p:cNvPr id="4" name="PlaceHolder 3"/>
          <p:cNvSpPr>
            <a:spLocks noGrp="1"/>
          </p:cNvSpPr>
          <p:nvPr>
            <p:ph type="sldNum" idx="2"/>
          </p:nvPr>
        </p:nvSpPr>
        <p:spPr/>
        <p:txBody>
          <a:bodyPr/>
          <a:p>
            <a:fld id="{056E39C8-3C06-4C51-B2B6-FA98E6B4A2A3}"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a:bodyPr>
          <a:p>
            <a:pPr indent="0" algn="ctr">
              <a:lnSpc>
                <a:spcPct val="100000"/>
              </a:lnSpc>
              <a:buNone/>
              <a:tabLst>
                <a:tab algn="l" pos="0"/>
              </a:tabLst>
            </a:pPr>
            <a:r>
              <a:rPr b="0" lang="en-US" sz="3300" spc="-1" strike="noStrike">
                <a:solidFill>
                  <a:srgbClr val="050505"/>
                </a:solidFill>
                <a:latin typeface="Times New Roman"/>
              </a:rPr>
              <a:t>FUTURE</a:t>
            </a:r>
            <a:endParaRPr b="0" lang="en-US" sz="3300" spc="-1" strike="noStrike">
              <a:solidFill>
                <a:srgbClr val="000000"/>
              </a:solidFill>
              <a:latin typeface="Arial"/>
            </a:endParaRPr>
          </a:p>
        </p:txBody>
      </p:sp>
      <p:sp>
        <p:nvSpPr>
          <p:cNvPr id="189" name="PlaceHolder 2"/>
          <p:cNvSpPr>
            <a:spLocks noGrp="1"/>
          </p:cNvSpPr>
          <p:nvPr>
            <p:ph/>
          </p:nvPr>
        </p:nvSpPr>
        <p:spPr>
          <a:xfrm>
            <a:off x="1620000" y="1368000"/>
            <a:ext cx="8098200" cy="3286440"/>
          </a:xfrm>
          <a:prstGeom prst="rect">
            <a:avLst/>
          </a:prstGeom>
          <a:noFill/>
          <a:ln w="0">
            <a:noFill/>
          </a:ln>
        </p:spPr>
        <p:txBody>
          <a:bodyPr lIns="0" rIns="0" tIns="0" bIns="0" anchor="t">
            <a:normAutofit fontScale="77000"/>
          </a:bodyPr>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implement as easy to use component / Arduino IDE library</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assess the impact of higher RTT / lower RSSI</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run MCPWM at higher clock rate (but seems to impact FTM quality)</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more FTM sessions, drop outliers &amp; asymmetric entries</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highlight>
                  <a:srgbClr val="ffff00"/>
                </a:highlight>
                <a:latin typeface="Arial"/>
              </a:rPr>
              <a:t>use floats (by FPU) instead of doubles (soft emulation)</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finer CRM, slope velocity factor</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port to GPTimer to support C3</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power saving</a:t>
            </a:r>
            <a:endParaRPr b="0" lang="en-US" sz="2400" spc="-1" strike="noStrike">
              <a:solidFill>
                <a:srgbClr val="000000"/>
              </a:solidFill>
              <a:latin typeface="Arial"/>
            </a:endParaRPr>
          </a:p>
          <a:p>
            <a:pPr marL="486720" indent="-36504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merge FTM/CRM/DTC: use period-aligned remote_ps as ref</a:t>
            </a:r>
            <a:endParaRPr b="0" lang="en-US" sz="2400" spc="-1" strike="noStrike">
              <a:solidFill>
                <a:srgbClr val="000000"/>
              </a:solidFill>
              <a:latin typeface="Arial"/>
            </a:endParaRPr>
          </a:p>
        </p:txBody>
      </p:sp>
      <p:sp>
        <p:nvSpPr>
          <p:cNvPr id="4" name="PlaceHolder 3"/>
          <p:cNvSpPr>
            <a:spLocks noGrp="1"/>
          </p:cNvSpPr>
          <p:nvPr>
            <p:ph type="sldNum" idx="2"/>
          </p:nvPr>
        </p:nvSpPr>
        <p:spPr/>
        <p:txBody>
          <a:bodyPr/>
          <a:p>
            <a:fld id="{1F672229-EBE5-48B1-A68E-F6AC6F66674C}"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0" name="" descr=""/>
          <p:cNvPicPr/>
          <p:nvPr/>
        </p:nvPicPr>
        <p:blipFill>
          <a:blip r:embed="rId1"/>
          <a:stretch/>
        </p:blipFill>
        <p:spPr>
          <a:xfrm>
            <a:off x="1629000" y="1371600"/>
            <a:ext cx="4140720" cy="3427200"/>
          </a:xfrm>
          <a:prstGeom prst="rect">
            <a:avLst/>
          </a:prstGeom>
          <a:ln w="18000">
            <a:noFill/>
          </a:ln>
        </p:spPr>
      </p:pic>
      <p:sp>
        <p:nvSpPr>
          <p:cNvPr id="191" name="PlaceHolder 1"/>
          <p:cNvSpPr>
            <a:spLocks noGrp="1"/>
          </p:cNvSpPr>
          <p:nvPr>
            <p:ph type="title"/>
          </p:nvPr>
        </p:nvSpPr>
        <p:spPr>
          <a:xfrm>
            <a:off x="1620000" y="216000"/>
            <a:ext cx="8098200" cy="934200"/>
          </a:xfrm>
          <a:prstGeom prst="rect">
            <a:avLst/>
          </a:prstGeom>
          <a:noFill/>
          <a:ln w="0">
            <a:noFill/>
          </a:ln>
        </p:spPr>
        <p:txBody>
          <a:bodyPr lIns="0" rIns="0" tIns="0" bIns="0" anchor="ctr">
            <a:normAutofit fontScale="96000"/>
          </a:bodyPr>
          <a:p>
            <a:pPr indent="0" algn="ctr">
              <a:lnSpc>
                <a:spcPct val="100000"/>
              </a:lnSpc>
              <a:buNone/>
              <a:tabLst>
                <a:tab algn="l" pos="0"/>
              </a:tabLst>
            </a:pPr>
            <a:r>
              <a:rPr b="0" lang="en-US" sz="3300" spc="-1" strike="noStrike">
                <a:solidFill>
                  <a:srgbClr val="050505"/>
                </a:solidFill>
                <a:latin typeface="Times New Roman"/>
              </a:rPr>
              <a:t>MAC Clock Timer Start Offset Measurements</a:t>
            </a:r>
            <a:br>
              <a:rPr sz="3300"/>
            </a:br>
            <a:r>
              <a:rPr b="0" lang="en-US" sz="3300" spc="-1" strike="noStrike">
                <a:solidFill>
                  <a:srgbClr val="050505"/>
                </a:solidFill>
                <a:latin typeface="Times New Roman"/>
              </a:rPr>
              <a:t>Quality Control</a:t>
            </a:r>
            <a:endParaRPr b="0" lang="en-US" sz="3300" spc="-1" strike="noStrike">
              <a:solidFill>
                <a:srgbClr val="000000"/>
              </a:solidFill>
              <a:latin typeface="Arial"/>
            </a:endParaRPr>
          </a:p>
        </p:txBody>
      </p:sp>
      <p:sp>
        <p:nvSpPr>
          <p:cNvPr id="192" name="PlaceHolder 2"/>
          <p:cNvSpPr>
            <a:spLocks noGrp="1"/>
          </p:cNvSpPr>
          <p:nvPr>
            <p:ph/>
          </p:nvPr>
        </p:nvSpPr>
        <p:spPr>
          <a:xfrm>
            <a:off x="5943600" y="1368000"/>
            <a:ext cx="3777480" cy="3286440"/>
          </a:xfrm>
          <a:prstGeom prst="rect">
            <a:avLst/>
          </a:prstGeom>
          <a:noFill/>
          <a:ln w="0">
            <a:noFill/>
          </a:ln>
        </p:spPr>
        <p:txBody>
          <a:bodyPr lIns="0" rIns="0" tIns="0" bIns="0" anchor="t">
            <a:normAutofit fontScale="48000"/>
          </a:bodyPr>
          <a:p>
            <a:pPr marL="444240" indent="-333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Set CONFIG_SYNC_MAC_TIMER_ALIGNMENT_TEST_CYCLES=100</a:t>
            </a:r>
            <a:endParaRPr b="0" lang="en-US" sz="2400" spc="-1" strike="noStrike">
              <a:solidFill>
                <a:srgbClr val="000000"/>
              </a:solidFill>
              <a:latin typeface="Arial"/>
            </a:endParaRPr>
          </a:p>
          <a:p>
            <a:pPr marL="444240" indent="-333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120 runs, each run: do 100 measurements, reboot</a:t>
            </a:r>
            <a:endParaRPr b="0" lang="en-US" sz="2400" spc="-1" strike="noStrike">
              <a:solidFill>
                <a:srgbClr val="000000"/>
              </a:solidFill>
              <a:latin typeface="Arial"/>
            </a:endParaRPr>
          </a:p>
          <a:p>
            <a:pPr marL="444240" indent="-333000">
              <a:lnSpc>
                <a:spcPct val="100000"/>
              </a:lnSpc>
              <a:spcAft>
                <a:spcPts val="1060"/>
              </a:spcAft>
              <a:buClr>
                <a:srgbClr val="000000"/>
              </a:buClr>
              <a:buSzPct val="40000"/>
              <a:buFont typeface="Wingdings" charset="2"/>
              <a:buChar char=""/>
            </a:pPr>
            <a:r>
              <a:rPr b="0" lang="en-US" sz="2400" spc="-1" strike="noStrike">
                <a:solidFill>
                  <a:srgbClr val="050505"/>
                </a:solidFill>
                <a:latin typeface="Arial"/>
              </a:rPr>
              <a:t>Gathered data from 3 systems (1x master, 2x slaves)</a:t>
            </a:r>
            <a:endParaRPr b="0" lang="en-US" sz="2400" spc="-1" strike="noStrike">
              <a:solidFill>
                <a:srgbClr val="000000"/>
              </a:solidFill>
              <a:latin typeface="Arial"/>
            </a:endParaRPr>
          </a:p>
          <a:p>
            <a:pPr marL="444240" indent="0">
              <a:lnSpc>
                <a:spcPct val="100000"/>
              </a:lnSpc>
              <a:spcAft>
                <a:spcPts val="1060"/>
              </a:spcAft>
              <a:buNone/>
              <a:tabLst>
                <a:tab algn="l" pos="0"/>
              </a:tabLst>
            </a:pPr>
            <a:r>
              <a:rPr b="0" lang="en-US" sz="2400" spc="-1" strike="noStrike">
                <a:solidFill>
                  <a:srgbClr val="050505"/>
                </a:solidFill>
                <a:latin typeface="Arial"/>
              </a:rPr>
              <a:t> </a:t>
            </a:r>
            <a:endParaRPr b="0" lang="en-US" sz="2400" spc="-1" strike="noStrike">
              <a:solidFill>
                <a:srgbClr val="000000"/>
              </a:solidFill>
              <a:latin typeface="Arial"/>
            </a:endParaRPr>
          </a:p>
          <a:p>
            <a:pPr marL="444240" indent="-3330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All runs finish with 100 measurements - nothing breaks</a:t>
            </a:r>
            <a:endParaRPr b="0" lang="en-US" sz="2400" spc="-1" strike="noStrike">
              <a:solidFill>
                <a:srgbClr val="000000"/>
              </a:solidFill>
              <a:latin typeface="Arial"/>
            </a:endParaRPr>
          </a:p>
          <a:p>
            <a:pPr marL="444240" indent="-3330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Within each run the algorithm always settles on the same min/max values, 1 unique offset per run</a:t>
            </a:r>
            <a:endParaRPr b="0" lang="en-US" sz="2400" spc="-1" strike="noStrike">
              <a:solidFill>
                <a:srgbClr val="000000"/>
              </a:solidFill>
              <a:latin typeface="Arial"/>
            </a:endParaRPr>
          </a:p>
          <a:p>
            <a:pPr marL="444240" indent="-333000">
              <a:lnSpc>
                <a:spcPct val="100000"/>
              </a:lnSpc>
              <a:spcAft>
                <a:spcPts val="1060"/>
              </a:spcAft>
              <a:buClr>
                <a:srgbClr val="000000"/>
              </a:buClr>
              <a:buSzPct val="40000"/>
              <a:buFont typeface="Wingdings" charset="2"/>
              <a:buChar char=""/>
              <a:tabLst>
                <a:tab algn="l" pos="0"/>
              </a:tabLst>
            </a:pPr>
            <a:r>
              <a:rPr b="0" lang="en-US" sz="2400" spc="-1" strike="noStrike">
                <a:solidFill>
                  <a:srgbClr val="050505"/>
                </a:solidFill>
                <a:latin typeface="Arial"/>
              </a:rPr>
              <a:t>The min / max bounds are 28-29 ticks apart, with roughly same probability </a:t>
            </a:r>
            <a:r>
              <a:rPr b="0" lang="en-US" sz="2400" spc="-1" strike="noStrike">
                <a:solidFill>
                  <a:srgbClr val="050505"/>
                </a:solidFill>
                <a:highlight>
                  <a:srgbClr val="ffff00"/>
                </a:highlight>
                <a:latin typeface="Arial"/>
              </a:rPr>
              <a:t>&lt;&lt; ? try to measure few times and take the narrowest</a:t>
            </a:r>
            <a:endParaRPr b="0" lang="en-US" sz="2400" spc="-1" strike="noStrike">
              <a:solidFill>
                <a:srgbClr val="000000"/>
              </a:solidFill>
              <a:latin typeface="Arial"/>
            </a:endParaRPr>
          </a:p>
          <a:p>
            <a:pPr marL="888480" indent="0">
              <a:lnSpc>
                <a:spcPct val="100000"/>
              </a:lnSpc>
              <a:spcAft>
                <a:spcPts val="848"/>
              </a:spcAft>
              <a:buNone/>
              <a:tabLst>
                <a:tab algn="l" pos="0"/>
              </a:tabLst>
            </a:pPr>
            <a:endParaRPr b="0" lang="en-US" sz="2100" spc="-1" strike="noStrike">
              <a:solidFill>
                <a:srgbClr val="000000"/>
              </a:solidFill>
              <a:latin typeface="Arial"/>
            </a:endParaRPr>
          </a:p>
          <a:p>
            <a:pPr marL="444240" indent="0">
              <a:lnSpc>
                <a:spcPct val="100000"/>
              </a:lnSpc>
              <a:spcAft>
                <a:spcPts val="1060"/>
              </a:spcAft>
              <a:buNone/>
              <a:tabLst>
                <a:tab algn="l" pos="0"/>
              </a:tabLst>
            </a:pPr>
            <a:r>
              <a:rPr b="0" lang="en-US" sz="2400" spc="-1" strike="noStrike">
                <a:solidFill>
                  <a:srgbClr val="050505"/>
                </a:solidFill>
                <a:latin typeface="Arial"/>
              </a:rPr>
              <a:t>See docs/mac_timer_align_analysis/</a:t>
            </a:r>
            <a:endParaRPr b="0" lang="en-US" sz="2400" spc="-1" strike="noStrike">
              <a:solidFill>
                <a:srgbClr val="000000"/>
              </a:solidFill>
              <a:latin typeface="Arial"/>
            </a:endParaRPr>
          </a:p>
        </p:txBody>
      </p:sp>
      <p:sp>
        <p:nvSpPr>
          <p:cNvPr id="4" name="PlaceHolder 3"/>
          <p:cNvSpPr>
            <a:spLocks noGrp="1"/>
          </p:cNvSpPr>
          <p:nvPr>
            <p:ph type="sldNum" idx="2"/>
          </p:nvPr>
        </p:nvSpPr>
        <p:spPr/>
        <p:txBody>
          <a:bodyPr/>
          <a:p>
            <a:fld id="{510B0EEC-1F5B-4596-9A27-7234FE98EA30}" type="slidenum">
              <a:t>31</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2654</TotalTime>
  <Application>LibreOffice/7.5.5.2$MacOSX_AARCH64 LibreOffice_project/ca8fe7424262805f223b9a2334bc7181abbcbf5e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2025-11-26T00:07:46Z</dcterms:created>
  <dc:creator/>
  <dc:description/>
  <dc:language>en-US</dc:language>
  <cp:lastModifiedBy>Alexandre Bezroutchko</cp:lastModifiedBy>
  <dcterms:modified xsi:type="dcterms:W3CDTF">2025-12-03T02:22:10Z</dcterms:modified>
  <cp:revision>56</cp:revision>
  <dc:subject/>
  <dc:title>DNA</dc:title>
</cp:coreProperties>
</file>

<file path=docProps/custom.xml><?xml version="1.0" encoding="utf-8"?>
<Properties xmlns="http://schemas.openxmlformats.org/officeDocument/2006/custom-properties" xmlns:vt="http://schemas.openxmlformats.org/officeDocument/2006/docPropsVTypes"/>
</file>